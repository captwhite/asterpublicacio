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2" r:id="rId5"/>
    <p:sldId id="270" r:id="rId6"/>
    <p:sldId id="271" r:id="rId7"/>
    <p:sldId id="27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73BBC-008E-BCFB-7846-9DCD9F4F0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A31640-4F8D-585D-DC69-B713FC0B2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5EC9-8CD8-355E-2948-9E3B55DF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10F590-8ACC-FDCB-F9CE-44C1CA12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380DF2-0C86-8610-91AA-9DAC271B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C5883-2F30-F29D-74B0-EBCBE0DA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C402C6-55F4-1210-D0A6-A44269BF1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ED3F80-127B-DE5F-FFE5-EB90F542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3A689-A49B-D0E4-81B7-D0D28B35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9D85E2-84A8-D692-AA0C-08D1D7FF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75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52324-829C-BF63-4F81-E4952DED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9B4BF-FE9C-6061-D153-073ECE458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EDB05-9848-F3CD-92FB-39F3397C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37286-1897-EE26-3124-4270FBC1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7BABB-483B-95AB-7214-6AFCEED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02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BB542-ACF7-5C09-8274-85F859D4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6C2E0-1B13-6C77-DEC6-138B37FEB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194C7-1123-C21B-1556-BFAF462D5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101F8-DEA2-AE37-8282-34B07769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68D11F-3189-ED58-4DD9-03A7341D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25CE1B-258B-D512-8957-C56D1E74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31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1794F-3FA6-C4E6-AFB3-812CF20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1A8ED0-6943-AC96-9A32-590E23D1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B1388E-7115-90C3-2234-F77AC205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4EC6D2-C5B9-2CF6-ECF6-67CD3FD8A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DFC0BD-A184-3428-E794-69A5ABCE3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BC17DA-D56B-412B-DDD0-FECA03A5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98EEB6-7C8A-AF53-9698-93664C36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40BF1D-C444-3725-DFD4-90528ED4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78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A82C2-EC04-7974-2A9C-6CCCECB7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FCE0C6-CE02-75FD-EA58-AF675740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F7010-E69E-DAD7-59D0-D9EC37D3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77AE2E-06B1-33DB-4FDC-E7CD294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90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CC40C9-C849-E275-5BD7-13A4C795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DDC141-7637-BF2E-34D2-1826D1C7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74153A-2014-18D1-86C9-47089324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607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FB9F-DDD3-BE6E-8B15-D0D0DE71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F05916-19FB-232A-A207-5AB302E0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E06663-0177-3C69-40AB-545160E2D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6E97F-0C74-1CF4-8D00-36812296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2C5C85-C252-CB23-C64A-B133EE3F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A63AB1-9BCA-5146-BCFF-8933C874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92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37AD2-3D76-156C-99B3-6B9B2A4A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87F904-1F1A-9B06-09BC-5D7628E53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68BBAA-B0EF-D711-1C29-3E2C7D03F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C7A152-50EE-BC1D-57A9-760675CD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269F19-A971-8B6D-2752-32127D1E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CA54D7-AAD1-A80E-8C73-E1C8CA0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73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71A9-A7CE-9A31-1DEA-3431B5DA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D8C884-A7DD-3156-BEDE-4970D575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F6F24-0F71-E0B5-4776-53342DA5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00184-700B-BA3B-7D6B-3F95154D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42F51-B0AF-47EB-85F3-8AC66432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65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8E94D5-6F1D-A33D-5454-191ADEB2B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2DF42B-BB31-3114-3689-69A6686B4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FF2695-2897-AF0A-580C-44A0F2B0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BA4063-9236-A98F-7FEA-6EA95C13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B5C885-D471-D103-A52E-DF5D55DF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51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A4D96F-38D9-C883-2688-ADA87601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605840-3CB5-F1A4-5C1A-DE459DB4F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A41DF4-350E-6870-E91A-6B8685D9C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50466-656F-490F-AF25-ED87A19EECF4}" type="datetimeFigureOut">
              <a:rPr lang="es-ES" smtClean="0"/>
              <a:t>31/10/2024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25C3F8-B779-05D0-813F-EFA7568AA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FD3A7-FFF1-2F64-2586-4C15067DF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0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sterbcn-newsletter.vercel.app/" TargetMode="External"/><Relationship Id="rId3" Type="http://schemas.openxmlformats.org/officeDocument/2006/relationships/hyperlink" Target="https://github.com/AsterBCN/repository/edit/main/db.json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hyperlink" Target="https://docs.google.com/spreadsheets/d/1rk8YjrBCUcmoh6Cw8WF0zhU-INHPoL7zFaZUpZ_Xx_4/edit#gid=72706647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hyperlink" Target="https://asterbcn-newsletter.vercel.app/cleaner" TargetMode="External"/><Relationship Id="rId5" Type="http://schemas.openxmlformats.org/officeDocument/2006/relationships/image" Target="../media/image1.png"/><Relationship Id="rId10" Type="http://schemas.openxmlformats.org/officeDocument/2006/relationships/image" Target="../media/image5.png"/><Relationship Id="rId4" Type="http://schemas.openxmlformats.org/officeDocument/2006/relationships/hyperlink" Target="https://us13.admin.mailchimp.com/" TargetMode="Externa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sterbcn-newsletter.vercel.app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9CB3A-9C00-65DC-EEC0-88B7DBCD7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1 - Actualizar el fichero de contenidos</a:t>
            </a:r>
          </a:p>
        </p:txBody>
      </p:sp>
    </p:spTree>
    <p:extLst>
      <p:ext uri="{BB962C8B-B14F-4D97-AF65-F5344CB8AC3E}">
        <p14:creationId xmlns:p14="http://schemas.microsoft.com/office/powerpoint/2010/main" val="2061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7FF0EF33-FA05-2C12-E961-2D9A3BCE3C90}"/>
              </a:ext>
            </a:extLst>
          </p:cNvPr>
          <p:cNvSpPr/>
          <p:nvPr/>
        </p:nvSpPr>
        <p:spPr>
          <a:xfrm>
            <a:off x="5220095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ASTERBCN</a:t>
            </a:r>
          </a:p>
          <a:p>
            <a:pPr algn="ctr"/>
            <a:endParaRPr lang="es-ES" dirty="0"/>
          </a:p>
          <a:p>
            <a:pPr algn="ctr"/>
            <a:r>
              <a:rPr lang="es-ES" dirty="0" err="1"/>
              <a:t>Pàginas</a:t>
            </a:r>
            <a:r>
              <a:rPr lang="es-ES" dirty="0"/>
              <a:t>  HTML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30AF73-3033-0195-BBBE-42D1AA346764}"/>
              </a:ext>
            </a:extLst>
          </p:cNvPr>
          <p:cNvSpPr/>
          <p:nvPr/>
        </p:nvSpPr>
        <p:spPr>
          <a:xfrm>
            <a:off x="2920728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GOOGLE DRIVE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Dades</a:t>
            </a:r>
          </a:p>
          <a:p>
            <a:pPr algn="ctr"/>
            <a:r>
              <a:rPr lang="es-ES" dirty="0"/>
              <a:t>(</a:t>
            </a:r>
            <a:r>
              <a:rPr lang="es-ES" dirty="0" err="1"/>
              <a:t>Sheets</a:t>
            </a:r>
            <a:r>
              <a:rPr lang="es-ES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5E7AFB-170F-FF13-69D3-D15A4AD6D178}"/>
              </a:ext>
            </a:extLst>
          </p:cNvPr>
          <p:cNvSpPr txBox="1"/>
          <p:nvPr/>
        </p:nvSpPr>
        <p:spPr>
          <a:xfrm>
            <a:off x="2606941" y="2579623"/>
            <a:ext cx="21113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dirty="0" err="1">
                <a:hlinkClick r:id="rId2"/>
              </a:rPr>
              <a:t>Aster</a:t>
            </a:r>
            <a:r>
              <a:rPr lang="pt-BR" sz="1100" dirty="0">
                <a:hlinkClick r:id="rId2"/>
              </a:rPr>
              <a:t> </a:t>
            </a:r>
            <a:r>
              <a:rPr lang="pt-BR" sz="1100" dirty="0" err="1">
                <a:hlinkClick r:id="rId2"/>
              </a:rPr>
              <a:t>Publicacions</a:t>
            </a:r>
            <a:r>
              <a:rPr lang="pt-BR" sz="1100" dirty="0">
                <a:hlinkClick r:id="rId2"/>
              </a:rPr>
              <a:t> - </a:t>
            </a:r>
            <a:r>
              <a:rPr lang="pt-BR" sz="1100" dirty="0" err="1">
                <a:hlinkClick r:id="rId2"/>
              </a:rPr>
              <a:t>sheet</a:t>
            </a:r>
            <a:r>
              <a:rPr lang="pt-BR" sz="1100" dirty="0">
                <a:hlinkClick r:id="rId2"/>
              </a:rPr>
              <a:t> - </a:t>
            </a:r>
            <a:r>
              <a:rPr lang="pt-BR" sz="1100" dirty="0" err="1">
                <a:hlinkClick r:id="rId2"/>
              </a:rPr>
              <a:t>Hojas</a:t>
            </a:r>
            <a:r>
              <a:rPr lang="pt-BR" sz="1100" dirty="0">
                <a:hlinkClick r:id="rId2"/>
              </a:rPr>
              <a:t> de cálculo de Google</a:t>
            </a:r>
            <a:endParaRPr lang="es-ES" sz="1100" dirty="0">
              <a:hlinkClick r:id="rId3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71B09C-39ED-6EB8-A5EA-24C2215DAC5F}"/>
              </a:ext>
            </a:extLst>
          </p:cNvPr>
          <p:cNvSpPr/>
          <p:nvPr/>
        </p:nvSpPr>
        <p:spPr>
          <a:xfrm>
            <a:off x="9922612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/>
              <a:t>MailChimp</a:t>
            </a:r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b="0" i="0" dirty="0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HTML-</a:t>
            </a:r>
            <a:r>
              <a:rPr lang="es-ES" b="0" i="0" dirty="0" err="1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correu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5E36BF-A4AB-856A-D452-2E58CB91E917}"/>
              </a:ext>
            </a:extLst>
          </p:cNvPr>
          <p:cNvSpPr txBox="1"/>
          <p:nvPr/>
        </p:nvSpPr>
        <p:spPr>
          <a:xfrm>
            <a:off x="9608825" y="2579623"/>
            <a:ext cx="21113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3"/>
              </a:rPr>
              <a:t>despatx4@aster.cat</a:t>
            </a:r>
          </a:p>
          <a:p>
            <a:pPr algn="ctr"/>
            <a:r>
              <a:rPr lang="es-ES" sz="1100" dirty="0">
                <a:hlinkClick r:id="rId4"/>
              </a:rPr>
              <a:t>https://us13.admin.mailchimp.com/</a:t>
            </a:r>
            <a:endParaRPr lang="es-ES" sz="1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B7ECDE-DF1C-89D6-448D-40F71DB42344}"/>
              </a:ext>
            </a:extLst>
          </p:cNvPr>
          <p:cNvSpPr txBox="1"/>
          <p:nvPr/>
        </p:nvSpPr>
        <p:spPr>
          <a:xfrm>
            <a:off x="2774080" y="1199072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Inserir el </a:t>
            </a:r>
            <a:r>
              <a:rPr lang="es-ES" dirty="0" err="1"/>
              <a:t>contingut</a:t>
            </a:r>
            <a:r>
              <a:rPr lang="es-ES" dirty="0"/>
              <a:t> del </a:t>
            </a:r>
            <a:r>
              <a:rPr lang="es-ES" dirty="0" err="1"/>
              <a:t>newsletter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BDBCC7-A665-1170-E3E3-4ADA33396647}"/>
              </a:ext>
            </a:extLst>
          </p:cNvPr>
          <p:cNvSpPr txBox="1"/>
          <p:nvPr/>
        </p:nvSpPr>
        <p:spPr>
          <a:xfrm>
            <a:off x="9806153" y="1199072"/>
            <a:ext cx="1716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Fusió</a:t>
            </a:r>
            <a:r>
              <a:rPr lang="es-ES" dirty="0"/>
              <a:t> de </a:t>
            </a:r>
            <a:r>
              <a:rPr lang="es-ES" dirty="0" err="1"/>
              <a:t>l'HTML</a:t>
            </a:r>
            <a:r>
              <a:rPr lang="es-ES" dirty="0"/>
              <a:t> </a:t>
            </a:r>
            <a:r>
              <a:rPr lang="es-ES" dirty="0" err="1"/>
              <a:t>amb</a:t>
            </a:r>
            <a:r>
              <a:rPr lang="es-ES" dirty="0"/>
              <a:t> </a:t>
            </a:r>
            <a:r>
              <a:rPr lang="es-ES" dirty="0" err="1"/>
              <a:t>els</a:t>
            </a:r>
            <a:r>
              <a:rPr lang="es-ES" dirty="0"/>
              <a:t> </a:t>
            </a:r>
            <a:r>
              <a:rPr lang="es-ES" dirty="0" err="1"/>
              <a:t>destinataris</a:t>
            </a:r>
            <a:r>
              <a:rPr lang="es-ES" dirty="0"/>
              <a:t> de </a:t>
            </a:r>
            <a:r>
              <a:rPr lang="es-ES" dirty="0" err="1"/>
              <a:t>correu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2AF1F1-5B22-6843-4025-9426012A564D}"/>
              </a:ext>
            </a:extLst>
          </p:cNvPr>
          <p:cNvSpPr txBox="1"/>
          <p:nvPr/>
        </p:nvSpPr>
        <p:spPr>
          <a:xfrm>
            <a:off x="344932" y="1563960"/>
            <a:ext cx="197193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Recopilación de noticias, comunicados, …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Diseño estético y estratégico de presentación</a:t>
            </a:r>
          </a:p>
        </p:txBody>
      </p:sp>
      <p:pic>
        <p:nvPicPr>
          <p:cNvPr id="1026" name="Picture 2" descr="Microsoft office excel - Iconos Social Media y Logos">
            <a:extLst>
              <a:ext uri="{FF2B5EF4-FFF2-40B4-BE49-F238E27FC236}">
                <a16:creationId xmlns:a16="http://schemas.microsoft.com/office/drawing/2014/main" id="{6541C5F0-FA8D-0E3F-821F-215954743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6" y="5072332"/>
            <a:ext cx="1299238" cy="129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B79AEAD5-81AD-990F-B32D-FA976A8DDBA1}"/>
              </a:ext>
            </a:extLst>
          </p:cNvPr>
          <p:cNvSpPr/>
          <p:nvPr/>
        </p:nvSpPr>
        <p:spPr>
          <a:xfrm>
            <a:off x="1058165" y="3921551"/>
            <a:ext cx="671961" cy="9427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568FFF1C-77E9-7A2C-2C78-CBE552B29AF2}"/>
              </a:ext>
            </a:extLst>
          </p:cNvPr>
          <p:cNvSpPr/>
          <p:nvPr/>
        </p:nvSpPr>
        <p:spPr>
          <a:xfrm>
            <a:off x="2462188" y="5519275"/>
            <a:ext cx="492433" cy="405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4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12606F09-B816-1D41-B84D-98C9E13C3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319" y="5500302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5760E4D-317C-8DB6-4FB4-0E58C74806EF}"/>
              </a:ext>
            </a:extLst>
          </p:cNvPr>
          <p:cNvSpPr/>
          <p:nvPr/>
        </p:nvSpPr>
        <p:spPr>
          <a:xfrm>
            <a:off x="3507055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8" name="Picture 14" descr="Archivo de extensión html - Iconos Archivos y Carpetas">
            <a:extLst>
              <a:ext uri="{FF2B5EF4-FFF2-40B4-BE49-F238E27FC236}">
                <a16:creationId xmlns:a16="http://schemas.microsoft.com/office/drawing/2014/main" id="{7F71D891-8396-A496-2DAA-D3D04AB35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139" y="3733231"/>
            <a:ext cx="696195" cy="69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20A8815E-CE10-FD5B-FB91-BD8180F5C95A}"/>
              </a:ext>
            </a:extLst>
          </p:cNvPr>
          <p:cNvSpPr txBox="1"/>
          <p:nvPr/>
        </p:nvSpPr>
        <p:spPr>
          <a:xfrm>
            <a:off x="5103637" y="2664261"/>
            <a:ext cx="1716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8"/>
              </a:rPr>
              <a:t>https://asterbcn-newsletter.vercel.app/</a:t>
            </a:r>
            <a:endParaRPr lang="es-ES" sz="1100" dirty="0"/>
          </a:p>
          <a:p>
            <a:pPr algn="ctr"/>
            <a:endParaRPr lang="es-ES" sz="1100" dirty="0"/>
          </a:p>
          <a:p>
            <a:pPr algn="ctr"/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786B1D5-DE2D-54C7-D376-79FDF3E89562}"/>
              </a:ext>
            </a:extLst>
          </p:cNvPr>
          <p:cNvSpPr txBox="1"/>
          <p:nvPr/>
        </p:nvSpPr>
        <p:spPr>
          <a:xfrm>
            <a:off x="5103637" y="1337571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Obtenir </a:t>
            </a:r>
            <a:r>
              <a:rPr lang="fr-FR" dirty="0" err="1"/>
              <a:t>codi</a:t>
            </a:r>
            <a:r>
              <a:rPr lang="fr-FR" dirty="0"/>
              <a:t> font </a:t>
            </a:r>
            <a:r>
              <a:rPr lang="fr-FR" dirty="0" err="1"/>
              <a:t>del</a:t>
            </a:r>
            <a:r>
              <a:rPr lang="fr-FR" dirty="0"/>
              <a:t> </a:t>
            </a:r>
            <a:r>
              <a:rPr lang="fr-FR" dirty="0" err="1"/>
              <a:t>fitxer</a:t>
            </a:r>
            <a:r>
              <a:rPr lang="fr-FR" dirty="0"/>
              <a:t> HTML</a:t>
            </a:r>
            <a:endParaRPr lang="es-ES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855FFEA-D9DD-BEA8-1F71-033A4196EA52}"/>
              </a:ext>
            </a:extLst>
          </p:cNvPr>
          <p:cNvGrpSpPr/>
          <p:nvPr/>
        </p:nvGrpSpPr>
        <p:grpSpPr>
          <a:xfrm>
            <a:off x="4727603" y="3891453"/>
            <a:ext cx="422044" cy="313774"/>
            <a:chOff x="4658222" y="3855563"/>
            <a:chExt cx="571306" cy="313774"/>
          </a:xfrm>
        </p:grpSpPr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91203EEA-0ECF-0D0E-EF36-F7FF25D9E683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CE8FEB7F-3EB0-8F6B-94DE-E424A6FB185B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7B15B665-BD64-D62C-E4F6-EB3C093087A8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Flecha: hacia arriba 44">
            <a:extLst>
              <a:ext uri="{FF2B5EF4-FFF2-40B4-BE49-F238E27FC236}">
                <a16:creationId xmlns:a16="http://schemas.microsoft.com/office/drawing/2014/main" id="{0B1367D3-0C15-F2CE-5CFE-4A88C2E0B8D0}"/>
              </a:ext>
            </a:extLst>
          </p:cNvPr>
          <p:cNvSpPr/>
          <p:nvPr/>
        </p:nvSpPr>
        <p:spPr>
          <a:xfrm>
            <a:off x="5803097" y="5143470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6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F34B1518-2299-6D8F-C5D9-DA2A2FC06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179" y="5544596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cono De Correo Electrónico En Estilo Plano PNG , Iconos De Correo  Electrónico, Iconos De Estilo, En Iconos PNG y Vector para Descargar Gratis  | Pngtree | Iconos de redes sociales, Iconos">
            <a:extLst>
              <a:ext uri="{FF2B5EF4-FFF2-40B4-BE49-F238E27FC236}">
                <a16:creationId xmlns:a16="http://schemas.microsoft.com/office/drawing/2014/main" id="{2C7F99A4-6676-CA18-BDA9-9AE01114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279" y="3783258"/>
            <a:ext cx="843937" cy="84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42BC9E5D-17BF-F609-1E19-37C35693E762}"/>
              </a:ext>
            </a:extLst>
          </p:cNvPr>
          <p:cNvSpPr/>
          <p:nvPr/>
        </p:nvSpPr>
        <p:spPr>
          <a:xfrm>
            <a:off x="10572391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8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0BB3AD5C-DC13-1DBB-F7EF-49FE05289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473" y="5532359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3AEECB0A-2CD7-9014-0DA7-0647C0301593}"/>
              </a:ext>
            </a:extLst>
          </p:cNvPr>
          <p:cNvSpPr txBox="1"/>
          <p:nvPr/>
        </p:nvSpPr>
        <p:spPr>
          <a:xfrm>
            <a:off x="3321999" y="20474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CF386D6-66C6-20A4-AA60-9EB373D5F6A4}"/>
              </a:ext>
            </a:extLst>
          </p:cNvPr>
          <p:cNvSpPr txBox="1"/>
          <p:nvPr/>
        </p:nvSpPr>
        <p:spPr>
          <a:xfrm>
            <a:off x="5533658" y="115999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2819ECB-CC69-F74E-77B6-6E75EFC2F314}"/>
              </a:ext>
            </a:extLst>
          </p:cNvPr>
          <p:cNvSpPr txBox="1"/>
          <p:nvPr/>
        </p:nvSpPr>
        <p:spPr>
          <a:xfrm>
            <a:off x="10302952" y="20474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4</a:t>
            </a:r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76FC1E6E-0763-587D-07D5-5AB9B8D605D9}"/>
              </a:ext>
            </a:extLst>
          </p:cNvPr>
          <p:cNvGrpSpPr/>
          <p:nvPr/>
        </p:nvGrpSpPr>
        <p:grpSpPr>
          <a:xfrm>
            <a:off x="9384109" y="3896392"/>
            <a:ext cx="422044" cy="313774"/>
            <a:chOff x="4658222" y="3855563"/>
            <a:chExt cx="571306" cy="313774"/>
          </a:xfrm>
        </p:grpSpPr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8E500672-4B6B-B5B6-6F45-1A76AEDD230D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122E415C-2942-1B91-D975-42AADC1CD7E6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9511AE9-4E18-8FCF-BC2F-5E6949F656DC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61629288-E676-2895-33E1-213B1AA002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0975" y="3667206"/>
            <a:ext cx="623747" cy="75183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7991DEE-B010-3662-A631-5B376E73B1E4}"/>
              </a:ext>
            </a:extLst>
          </p:cNvPr>
          <p:cNvSpPr/>
          <p:nvPr/>
        </p:nvSpPr>
        <p:spPr>
          <a:xfrm>
            <a:off x="7547376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ASTERBCN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Porta-</a:t>
            </a:r>
            <a:r>
              <a:rPr lang="es-ES" dirty="0" err="1"/>
              <a:t>papers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270BB1-DA96-9360-F119-38F018398533}"/>
              </a:ext>
            </a:extLst>
          </p:cNvPr>
          <p:cNvSpPr txBox="1"/>
          <p:nvPr/>
        </p:nvSpPr>
        <p:spPr>
          <a:xfrm>
            <a:off x="7313370" y="2664261"/>
            <a:ext cx="1945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11"/>
              </a:rPr>
              <a:t>https://asterbcn-newsletter.vercel.app/cleaner</a:t>
            </a:r>
            <a:endParaRPr lang="es-ES" sz="1100" dirty="0"/>
          </a:p>
          <a:p>
            <a:pPr algn="ctr"/>
            <a:endParaRPr lang="es-ES" sz="11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41128A-E446-F619-BBE0-F895C4A268B4}"/>
              </a:ext>
            </a:extLst>
          </p:cNvPr>
          <p:cNvSpPr txBox="1"/>
          <p:nvPr/>
        </p:nvSpPr>
        <p:spPr>
          <a:xfrm>
            <a:off x="7430918" y="1337571"/>
            <a:ext cx="1716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Adaptar</a:t>
            </a:r>
            <a:r>
              <a:rPr lang="fr-FR" dirty="0"/>
              <a:t> HTML per a </a:t>
            </a:r>
            <a:r>
              <a:rPr lang="fr-FR" dirty="0" err="1"/>
              <a:t>Mailchimp</a:t>
            </a:r>
            <a:endParaRPr lang="es-E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8E722FD-583A-E3C2-ED64-A4DBFDC17CB0}"/>
              </a:ext>
            </a:extLst>
          </p:cNvPr>
          <p:cNvGrpSpPr/>
          <p:nvPr/>
        </p:nvGrpSpPr>
        <p:grpSpPr>
          <a:xfrm>
            <a:off x="7054884" y="3891453"/>
            <a:ext cx="422044" cy="313774"/>
            <a:chOff x="4658222" y="3855563"/>
            <a:chExt cx="571306" cy="313774"/>
          </a:xfrm>
        </p:grpSpPr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A3314E37-7F18-E1D4-99A2-556ADA846AC6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458B6106-4C8B-5693-4F5C-30DB04BB3A45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021AB047-83B8-A15A-EA90-5BE644FFF9EC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lecha: hacia arriba 20">
            <a:extLst>
              <a:ext uri="{FF2B5EF4-FFF2-40B4-BE49-F238E27FC236}">
                <a16:creationId xmlns:a16="http://schemas.microsoft.com/office/drawing/2014/main" id="{DB2BAD4F-FB1C-A6D1-6A1C-E7EBB45E044F}"/>
              </a:ext>
            </a:extLst>
          </p:cNvPr>
          <p:cNvSpPr/>
          <p:nvPr/>
        </p:nvSpPr>
        <p:spPr>
          <a:xfrm>
            <a:off x="8130378" y="5143470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3769C9D3-08E7-48FB-0D1C-6C4F68157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460" y="5544596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2520DE39-2E9A-C868-A2F8-FCFC3C8DCC5D}"/>
              </a:ext>
            </a:extLst>
          </p:cNvPr>
          <p:cNvSpPr txBox="1"/>
          <p:nvPr/>
        </p:nvSpPr>
        <p:spPr>
          <a:xfrm>
            <a:off x="7860939" y="115999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38" name="Imagen 37" descr="Icono&#10;&#10;Descripción generada automáticamente">
            <a:extLst>
              <a:ext uri="{FF2B5EF4-FFF2-40B4-BE49-F238E27FC236}">
                <a16:creationId xmlns:a16="http://schemas.microsoft.com/office/drawing/2014/main" id="{FC0DCC79-63FA-E308-A2C6-8755648348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220" y="3804562"/>
            <a:ext cx="689797" cy="68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6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8718DC45-EF23-7482-B5F5-652A7703D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" y="3224508"/>
            <a:ext cx="7723134" cy="17528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E9289A-0F7E-9253-B655-A7ECD79E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974" y="0"/>
            <a:ext cx="4478294" cy="6795163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AB850CD-2B22-2723-C0E5-FC3E2C22E55E}"/>
              </a:ext>
            </a:extLst>
          </p:cNvPr>
          <p:cNvCxnSpPr>
            <a:cxnSpLocks/>
          </p:cNvCxnSpPr>
          <p:nvPr/>
        </p:nvCxnSpPr>
        <p:spPr>
          <a:xfrm flipV="1">
            <a:off x="622169" y="1781666"/>
            <a:ext cx="9257122" cy="1932495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6A32771-EEB1-A207-6204-DD7179C88C15}"/>
              </a:ext>
            </a:extLst>
          </p:cNvPr>
          <p:cNvCxnSpPr>
            <a:cxnSpLocks/>
          </p:cNvCxnSpPr>
          <p:nvPr/>
        </p:nvCxnSpPr>
        <p:spPr>
          <a:xfrm flipV="1">
            <a:off x="961534" y="1668544"/>
            <a:ext cx="9568206" cy="31956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0C7B527-8262-2748-D487-FCAF4B2ADDDA}"/>
              </a:ext>
            </a:extLst>
          </p:cNvPr>
          <p:cNvCxnSpPr>
            <a:cxnSpLocks/>
          </p:cNvCxnSpPr>
          <p:nvPr/>
        </p:nvCxnSpPr>
        <p:spPr>
          <a:xfrm flipV="1">
            <a:off x="2564091" y="2130458"/>
            <a:ext cx="7220932" cy="1849755"/>
          </a:xfrm>
          <a:prstGeom prst="straightConnector1">
            <a:avLst/>
          </a:prstGeom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98A1013-2E3A-AD20-F8E5-CB4B085DD4AA}"/>
              </a:ext>
            </a:extLst>
          </p:cNvPr>
          <p:cNvCxnSpPr>
            <a:cxnSpLocks/>
          </p:cNvCxnSpPr>
          <p:nvPr/>
        </p:nvCxnSpPr>
        <p:spPr>
          <a:xfrm>
            <a:off x="2422689" y="4329005"/>
            <a:ext cx="7088956" cy="535226"/>
          </a:xfrm>
          <a:prstGeom prst="straightConnector1">
            <a:avLst/>
          </a:prstGeom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09F6D2A-A08B-1434-EA8B-2B120258448A}"/>
              </a:ext>
            </a:extLst>
          </p:cNvPr>
          <p:cNvCxnSpPr>
            <a:cxnSpLocks/>
          </p:cNvCxnSpPr>
          <p:nvPr/>
        </p:nvCxnSpPr>
        <p:spPr>
          <a:xfrm>
            <a:off x="5156462" y="4329005"/>
            <a:ext cx="3403076" cy="842648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182AC6C-B389-99F8-57E3-D04F82E77DA7}"/>
              </a:ext>
            </a:extLst>
          </p:cNvPr>
          <p:cNvCxnSpPr>
            <a:cxnSpLocks/>
          </p:cNvCxnSpPr>
          <p:nvPr/>
        </p:nvCxnSpPr>
        <p:spPr>
          <a:xfrm>
            <a:off x="5156462" y="4100930"/>
            <a:ext cx="3770722" cy="208301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12CE444-1B01-BD37-3D66-0894552FC148}"/>
              </a:ext>
            </a:extLst>
          </p:cNvPr>
          <p:cNvCxnSpPr>
            <a:cxnSpLocks/>
          </p:cNvCxnSpPr>
          <p:nvPr/>
        </p:nvCxnSpPr>
        <p:spPr>
          <a:xfrm>
            <a:off x="6372520" y="4370644"/>
            <a:ext cx="2205871" cy="1521109"/>
          </a:xfrm>
          <a:prstGeom prst="straightConnector1">
            <a:avLst/>
          </a:prstGeom>
          <a:ln w="254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A1A7077-DB4A-C94E-FF94-25B742EC8FBA}"/>
              </a:ext>
            </a:extLst>
          </p:cNvPr>
          <p:cNvSpPr txBox="1"/>
          <p:nvPr/>
        </p:nvSpPr>
        <p:spPr>
          <a:xfrm>
            <a:off x="183364" y="30605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565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2 – Obtener código fuente de la página web</a:t>
            </a:r>
          </a:p>
        </p:txBody>
      </p:sp>
    </p:spTree>
    <p:extLst>
      <p:ext uri="{BB962C8B-B14F-4D97-AF65-F5344CB8AC3E}">
        <p14:creationId xmlns:p14="http://schemas.microsoft.com/office/powerpoint/2010/main" val="236287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C2D600-0C4D-F648-32C7-D0AA97780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10" y="948906"/>
            <a:ext cx="3496377" cy="53052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CD1EC23-88E2-CE27-35CE-5A2C879BCBD2}"/>
              </a:ext>
            </a:extLst>
          </p:cNvPr>
          <p:cNvSpPr txBox="1"/>
          <p:nvPr/>
        </p:nvSpPr>
        <p:spPr>
          <a:xfrm>
            <a:off x="-43829" y="2131441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AB9F49-329E-5F54-D41E-AC60E3D75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642" y="1927378"/>
            <a:ext cx="4561529" cy="3003243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4E174747-5A5A-8EC4-C9F2-841F47E5E481}"/>
              </a:ext>
            </a:extLst>
          </p:cNvPr>
          <p:cNvSpPr/>
          <p:nvPr/>
        </p:nvSpPr>
        <p:spPr>
          <a:xfrm>
            <a:off x="5184475" y="3278038"/>
            <a:ext cx="1492370" cy="7332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FE9F82-9E80-F78D-9609-D920C8300DC0}"/>
              </a:ext>
            </a:extLst>
          </p:cNvPr>
          <p:cNvSpPr txBox="1"/>
          <p:nvPr/>
        </p:nvSpPr>
        <p:spPr>
          <a:xfrm>
            <a:off x="4817287" y="2717320"/>
            <a:ext cx="1954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Ver código fuente de página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70D734-AFD7-7D01-35C7-9943560EEC5B}"/>
              </a:ext>
            </a:extLst>
          </p:cNvPr>
          <p:cNvSpPr txBox="1"/>
          <p:nvPr/>
        </p:nvSpPr>
        <p:spPr>
          <a:xfrm>
            <a:off x="8262181" y="3870383"/>
            <a:ext cx="1954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Seleccionar todo y Cortar en el portapapeles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DD5355-D520-ED62-253D-9BD7D2D84720}"/>
              </a:ext>
            </a:extLst>
          </p:cNvPr>
          <p:cNvSpPr txBox="1"/>
          <p:nvPr/>
        </p:nvSpPr>
        <p:spPr>
          <a:xfrm>
            <a:off x="2116948" y="331120"/>
            <a:ext cx="1716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4"/>
              </a:rPr>
              <a:t>https://asterbcn-newsletter.vercel.app/</a:t>
            </a:r>
            <a:endParaRPr lang="es-ES" sz="1100" dirty="0"/>
          </a:p>
          <a:p>
            <a:pPr algn="ctr"/>
            <a:endParaRPr lang="es-ES" sz="1100" dirty="0"/>
          </a:p>
          <a:p>
            <a:pPr algn="ctr"/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73656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6D21-CD01-416C-258B-832A3EF8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5D686-C0A8-B73F-E2FA-E160978C10FD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3 – </a:t>
            </a:r>
            <a:r>
              <a:rPr lang="es-ES" dirty="0" err="1"/>
              <a:t>Adapatar</a:t>
            </a:r>
            <a:r>
              <a:rPr lang="es-ES" dirty="0"/>
              <a:t> HTML a </a:t>
            </a:r>
            <a:r>
              <a:rPr lang="es-ES" dirty="0" err="1"/>
              <a:t>Mailchimp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086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21DD7D1-778D-CD96-AF47-FC7D784F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060" y="593889"/>
            <a:ext cx="5571443" cy="53308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E93C964-CECE-7A03-A5E6-5AB72E49F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70" y="650451"/>
            <a:ext cx="5205356" cy="4477789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519BE1C-E9CC-0565-9CA4-E312FD8015DD}"/>
              </a:ext>
            </a:extLst>
          </p:cNvPr>
          <p:cNvCxnSpPr>
            <a:cxnSpLocks/>
          </p:cNvCxnSpPr>
          <p:nvPr/>
        </p:nvCxnSpPr>
        <p:spPr>
          <a:xfrm flipV="1">
            <a:off x="676970" y="3978111"/>
            <a:ext cx="963294" cy="154206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1CD048D-0DA9-DE0C-73EC-FF315F41C207}"/>
              </a:ext>
            </a:extLst>
          </p:cNvPr>
          <p:cNvCxnSpPr>
            <a:cxnSpLocks/>
          </p:cNvCxnSpPr>
          <p:nvPr/>
        </p:nvCxnSpPr>
        <p:spPr>
          <a:xfrm flipV="1">
            <a:off x="2780907" y="4884656"/>
            <a:ext cx="158494" cy="6355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48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4 – Envío de emails</a:t>
            </a:r>
          </a:p>
        </p:txBody>
      </p:sp>
    </p:spTree>
    <p:extLst>
      <p:ext uri="{BB962C8B-B14F-4D97-AF65-F5344CB8AC3E}">
        <p14:creationId xmlns:p14="http://schemas.microsoft.com/office/powerpoint/2010/main" val="102942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F5DC5BCE-06C6-7000-45A4-177B30A2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751" y="1689904"/>
            <a:ext cx="3704099" cy="2391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D01631-85D9-4001-063E-F06C2676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9" y="558505"/>
            <a:ext cx="3504383" cy="946310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147AA2E-AD8A-A855-7ED0-BD99941579E8}"/>
              </a:ext>
            </a:extLst>
          </p:cNvPr>
          <p:cNvCxnSpPr/>
          <p:nvPr/>
        </p:nvCxnSpPr>
        <p:spPr>
          <a:xfrm flipH="1">
            <a:off x="1666770" y="3193329"/>
            <a:ext cx="518475" cy="4713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DEF0B892-81ED-7295-6DDC-91F7F2DD7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79" y="1689904"/>
            <a:ext cx="2784454" cy="2458228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13207E2-0476-573C-4B9B-13B6204DECD0}"/>
              </a:ext>
            </a:extLst>
          </p:cNvPr>
          <p:cNvCxnSpPr>
            <a:cxnSpLocks/>
          </p:cNvCxnSpPr>
          <p:nvPr/>
        </p:nvCxnSpPr>
        <p:spPr>
          <a:xfrm flipH="1">
            <a:off x="5184126" y="3354371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11965E1C-2F1E-CBB9-8B17-BA66B03F9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82" y="282805"/>
            <a:ext cx="1285808" cy="1053579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EFBA119-8148-E8F3-F142-F68FAE0AD68C}"/>
              </a:ext>
            </a:extLst>
          </p:cNvPr>
          <p:cNvCxnSpPr/>
          <p:nvPr/>
        </p:nvCxnSpPr>
        <p:spPr>
          <a:xfrm flipH="1">
            <a:off x="3161873" y="2266752"/>
            <a:ext cx="518475" cy="4713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351A7C76-41F1-3992-3209-C0F629378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994" y="1721366"/>
            <a:ext cx="3518708" cy="2342105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FFC59E1-5FD1-1815-5B81-8DF577865F07}"/>
              </a:ext>
            </a:extLst>
          </p:cNvPr>
          <p:cNvCxnSpPr>
            <a:cxnSpLocks/>
          </p:cNvCxnSpPr>
          <p:nvPr/>
        </p:nvCxnSpPr>
        <p:spPr>
          <a:xfrm flipH="1">
            <a:off x="8643982" y="925924"/>
            <a:ext cx="579738" cy="19599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A2091536-85AC-65B1-94CB-5EC3A47B3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280" y="4349867"/>
            <a:ext cx="2784454" cy="2197783"/>
          </a:xfrm>
          <a:prstGeom prst="rect">
            <a:avLst/>
          </a:prstGeom>
        </p:spPr>
      </p:pic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A5FCABB-0266-A090-FF6B-61CBBC9085E9}"/>
              </a:ext>
            </a:extLst>
          </p:cNvPr>
          <p:cNvCxnSpPr/>
          <p:nvPr/>
        </p:nvCxnSpPr>
        <p:spPr>
          <a:xfrm flipH="1">
            <a:off x="3004266" y="4247007"/>
            <a:ext cx="518475" cy="4713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Imagen 28">
            <a:extLst>
              <a:ext uri="{FF2B5EF4-FFF2-40B4-BE49-F238E27FC236}">
                <a16:creationId xmlns:a16="http://schemas.microsoft.com/office/drawing/2014/main" id="{986F320B-E76A-ADB7-64C6-B1276D29C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8190" y="4329034"/>
            <a:ext cx="2668024" cy="2223354"/>
          </a:xfrm>
          <a:prstGeom prst="rect">
            <a:avLst/>
          </a:prstGeo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3130B0A-B418-59F7-A255-F007C8A85E74}"/>
              </a:ext>
            </a:extLst>
          </p:cNvPr>
          <p:cNvCxnSpPr>
            <a:cxnSpLocks/>
          </p:cNvCxnSpPr>
          <p:nvPr/>
        </p:nvCxnSpPr>
        <p:spPr>
          <a:xfrm flipH="1">
            <a:off x="5940149" y="5863472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384BB7A8-B3E2-A18F-57D4-3D1DCB5CD7D5}"/>
              </a:ext>
            </a:extLst>
          </p:cNvPr>
          <p:cNvSpPr txBox="1"/>
          <p:nvPr/>
        </p:nvSpPr>
        <p:spPr>
          <a:xfrm>
            <a:off x="-26696" y="2502422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78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444CD85-E2A9-C74C-A26C-E26E8E2B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9" y="1318950"/>
            <a:ext cx="5241627" cy="374875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2D4AE25-F226-A5DE-5C1E-801A23B07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531" y="1213746"/>
            <a:ext cx="4380350" cy="41665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095136D3-5D37-6DFD-DFDE-F014DB9847B2}"/>
              </a:ext>
            </a:extLst>
          </p:cNvPr>
          <p:cNvSpPr/>
          <p:nvPr/>
        </p:nvSpPr>
        <p:spPr>
          <a:xfrm rot="20692735">
            <a:off x="5247870" y="2457502"/>
            <a:ext cx="2398870" cy="10180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33B811-065C-1A24-E5FA-1F4532966475}"/>
              </a:ext>
            </a:extLst>
          </p:cNvPr>
          <p:cNvSpPr txBox="1"/>
          <p:nvPr/>
        </p:nvSpPr>
        <p:spPr>
          <a:xfrm>
            <a:off x="5470082" y="1765212"/>
            <a:ext cx="1954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Cortar y pegar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857A7B-78E7-057C-CA1A-41E7DCC30DEE}"/>
              </a:ext>
            </a:extLst>
          </p:cNvPr>
          <p:cNvSpPr txBox="1"/>
          <p:nvPr/>
        </p:nvSpPr>
        <p:spPr>
          <a:xfrm>
            <a:off x="201268" y="4516423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4459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150</Words>
  <Application>Microsoft Office PowerPoint</Application>
  <PresentationFormat>Panorámica</PresentationFormat>
  <Paragraphs>41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Tema de Office</vt:lpstr>
      <vt:lpstr>1 - Actualizar el fichero de 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Actualizar el fichero de contenidos</dc:title>
  <dc:creator>Jordi Blanca</dc:creator>
  <cp:lastModifiedBy>Jordi Blanca</cp:lastModifiedBy>
  <cp:revision>11</cp:revision>
  <dcterms:created xsi:type="dcterms:W3CDTF">2023-12-04T12:18:17Z</dcterms:created>
  <dcterms:modified xsi:type="dcterms:W3CDTF">2024-10-31T18:28:57Z</dcterms:modified>
</cp:coreProperties>
</file>