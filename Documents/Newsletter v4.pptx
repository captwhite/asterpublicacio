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2" r:id="rId5"/>
    <p:sldId id="270" r:id="rId6"/>
    <p:sldId id="263" r:id="rId7"/>
    <p:sldId id="264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7" autoAdjust="0"/>
    <p:restoredTop sz="94660"/>
  </p:normalViewPr>
  <p:slideViewPr>
    <p:cSldViewPr snapToGrid="0">
      <p:cViewPr>
        <p:scale>
          <a:sx n="96" d="100"/>
          <a:sy n="96" d="100"/>
        </p:scale>
        <p:origin x="103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73BBC-008E-BCFB-7846-9DCD9F4F0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A31640-4F8D-585D-DC69-B713FC0B2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E55EC9-8CD8-355E-2948-9E3B55DF3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10F590-8ACC-FDCB-F9CE-44C1CA12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380DF2-0C86-8610-91AA-9DAC271B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96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C5883-2F30-F29D-74B0-EBCBE0DA8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C402C6-55F4-1210-D0A6-A44269BF1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ED3F80-127B-DE5F-FFE5-EB90F5420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43A689-A49B-D0E4-81B7-D0D28B35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9D85E2-84A8-D692-AA0C-08D1D7FF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675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52324-829C-BF63-4F81-E4952DED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19B4BF-FE9C-6061-D153-073ECE458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EDB05-9848-F3CD-92FB-39F3397C4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037286-1897-EE26-3124-4270FBC1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B7BABB-483B-95AB-7214-6AFCEED0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3021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BB542-ACF7-5C09-8274-85F859D47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16C2E0-1B13-6C77-DEC6-138B37FEBA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C194C7-1123-C21B-1556-BFAF462D5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7101F8-DEA2-AE37-8282-34B07769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68D11F-3189-ED58-4DD9-03A7341DD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25CE1B-258B-D512-8957-C56D1E747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7316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F1794F-3FA6-C4E6-AFB3-812CF20D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1A8ED0-6943-AC96-9A32-590E23D18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B1388E-7115-90C3-2234-F77AC205F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4EC6D2-C5B9-2CF6-ECF6-67CD3FD8A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DFC0BD-A184-3428-E794-69A5ABCE3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BC17DA-D56B-412B-DDD0-FECA03A57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98EEB6-7C8A-AF53-9698-93664C36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640BF1D-C444-3725-DFD4-90528ED48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3782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A82C2-EC04-7974-2A9C-6CCCECB7B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DFCE0C6-CE02-75FD-EA58-AF6757402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2F7010-E69E-DAD7-59D0-D9EC37D3C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377AE2E-06B1-33DB-4FDC-E7CD294F9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8900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ECC40C9-C849-E275-5BD7-13A4C795A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1DDC141-7637-BF2E-34D2-1826D1C79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74153A-2014-18D1-86C9-47089324F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6071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FFB9F-DDD3-BE6E-8B15-D0D0DE715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F05916-19FB-232A-A207-5AB302E0A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E06663-0177-3C69-40AB-545160E2D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86E97F-0C74-1CF4-8D00-368122964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2C5C85-C252-CB23-C64A-B133EE3F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A63AB1-9BCA-5146-BCFF-8933C874C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6929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37AD2-3D76-156C-99B3-6B9B2A4AE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087F904-1F1A-9B06-09BC-5D7628E536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68BBAA-B0EF-D711-1C29-3E2C7D03F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C7A152-50EE-BC1D-57A9-760675CD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269F19-A971-8B6D-2752-32127D1E2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CA54D7-AAD1-A80E-8C73-E1C8CA03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2732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871A9-A7CE-9A31-1DEA-3431B5DA9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D8C884-A7DD-3156-BEDE-4970D575B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1F6F24-0F71-E0B5-4776-53342DA58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A00184-700B-BA3B-7D6B-3F95154D1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42F51-B0AF-47EB-85F3-8AC664321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9656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B8E94D5-6F1D-A33D-5454-191ADEB2BD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2DF42B-BB31-3114-3689-69A6686B4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FF2695-2897-AF0A-580C-44A0F2B00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BA4063-9236-A98F-7FEA-6EA95C13C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B5C885-D471-D103-A52E-DF5D55DF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6512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2A4D96F-38D9-C883-2688-ADA87601C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605840-3CB5-F1A4-5C1A-DE459DB4F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A41DF4-350E-6870-E91A-6B8685D9C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50466-656F-490F-AF25-ED87A19EECF4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25C3F8-B779-05D0-813F-EFA7568AA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1FD3A7-FFF1-2F64-2586-4C15067DF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30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intranet.aster.cat/aster-publicacio" TargetMode="External"/><Relationship Id="rId3" Type="http://schemas.openxmlformats.org/officeDocument/2006/relationships/hyperlink" Target="https://github.com/AsterBCN/repository/edit/main/db.json" TargetMode="External"/><Relationship Id="rId7" Type="http://schemas.openxmlformats.org/officeDocument/2006/relationships/image" Target="../media/image3.png"/><Relationship Id="rId12" Type="http://schemas.openxmlformats.org/officeDocument/2006/relationships/image" Target="../media/image6.png"/><Relationship Id="rId2" Type="http://schemas.openxmlformats.org/officeDocument/2006/relationships/hyperlink" Target="https://docs.google.com/spreadsheets/d/1rk8YjrBCUcmoh6Cw8WF0zhU-INHPoL7zFaZUpZ_Xx_4/edit#gid=72706647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hyperlink" Target="https://intranet.aster.cat/aster-publicacio/htmlcode" TargetMode="External"/><Relationship Id="rId5" Type="http://schemas.openxmlformats.org/officeDocument/2006/relationships/image" Target="../media/image1.png"/><Relationship Id="rId10" Type="http://schemas.openxmlformats.org/officeDocument/2006/relationships/image" Target="../media/image5.png"/><Relationship Id="rId4" Type="http://schemas.openxmlformats.org/officeDocument/2006/relationships/hyperlink" Target="https://mailrelay.com/" TargetMode="External"/><Relationship Id="rId9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ntranet.aster.cat/aster-publicacio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hyperlink" Target="https://intranet.aster.cat/aster-publicacio/htmlcode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9CB3A-9C00-65DC-EEC0-88B7DBCD76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1 - Actualizar el fichero de contenidos</a:t>
            </a:r>
          </a:p>
        </p:txBody>
      </p:sp>
    </p:spTree>
    <p:extLst>
      <p:ext uri="{BB962C8B-B14F-4D97-AF65-F5344CB8AC3E}">
        <p14:creationId xmlns:p14="http://schemas.microsoft.com/office/powerpoint/2010/main" val="20610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31">
            <a:extLst>
              <a:ext uri="{FF2B5EF4-FFF2-40B4-BE49-F238E27FC236}">
                <a16:creationId xmlns:a16="http://schemas.microsoft.com/office/drawing/2014/main" id="{7FF0EF33-FA05-2C12-E961-2D9A3BCE3C90}"/>
              </a:ext>
            </a:extLst>
          </p:cNvPr>
          <p:cNvSpPr/>
          <p:nvPr/>
        </p:nvSpPr>
        <p:spPr>
          <a:xfrm>
            <a:off x="5220095" y="3157268"/>
            <a:ext cx="1483743" cy="19150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ASTERBCN</a:t>
            </a:r>
          </a:p>
          <a:p>
            <a:pPr algn="ctr"/>
            <a:endParaRPr lang="es-ES" dirty="0"/>
          </a:p>
          <a:p>
            <a:pPr algn="ctr"/>
            <a:r>
              <a:rPr lang="es-ES" dirty="0" err="1"/>
              <a:t>Pàginas</a:t>
            </a:r>
            <a:r>
              <a:rPr lang="es-ES" dirty="0"/>
              <a:t>  HTML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D30AF73-3033-0195-BBBE-42D1AA346764}"/>
              </a:ext>
            </a:extLst>
          </p:cNvPr>
          <p:cNvSpPr/>
          <p:nvPr/>
        </p:nvSpPr>
        <p:spPr>
          <a:xfrm>
            <a:off x="2920728" y="3157268"/>
            <a:ext cx="1483743" cy="19150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GOOGLE DRIVE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Dades</a:t>
            </a:r>
          </a:p>
          <a:p>
            <a:pPr algn="ctr"/>
            <a:r>
              <a:rPr lang="es-ES" dirty="0"/>
              <a:t>(</a:t>
            </a:r>
            <a:r>
              <a:rPr lang="es-ES" dirty="0" err="1"/>
              <a:t>Sheets</a:t>
            </a:r>
            <a:r>
              <a:rPr lang="es-ES" dirty="0"/>
              <a:t>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85E7AFB-170F-FF13-69D3-D15A4AD6D178}"/>
              </a:ext>
            </a:extLst>
          </p:cNvPr>
          <p:cNvSpPr txBox="1"/>
          <p:nvPr/>
        </p:nvSpPr>
        <p:spPr>
          <a:xfrm>
            <a:off x="2606941" y="2579623"/>
            <a:ext cx="21113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dirty="0" err="1">
                <a:hlinkClick r:id="rId2"/>
              </a:rPr>
              <a:t>Aster</a:t>
            </a:r>
            <a:r>
              <a:rPr lang="pt-BR" sz="1100" dirty="0">
                <a:hlinkClick r:id="rId2"/>
              </a:rPr>
              <a:t> </a:t>
            </a:r>
            <a:r>
              <a:rPr lang="pt-BR" sz="1100" dirty="0" err="1">
                <a:hlinkClick r:id="rId2"/>
              </a:rPr>
              <a:t>Publicacions</a:t>
            </a:r>
            <a:r>
              <a:rPr lang="pt-BR" sz="1100" dirty="0">
                <a:hlinkClick r:id="rId2"/>
              </a:rPr>
              <a:t> - </a:t>
            </a:r>
            <a:r>
              <a:rPr lang="pt-BR" sz="1100" dirty="0" err="1">
                <a:hlinkClick r:id="rId2"/>
              </a:rPr>
              <a:t>sheet</a:t>
            </a:r>
            <a:r>
              <a:rPr lang="pt-BR" sz="1100" dirty="0">
                <a:hlinkClick r:id="rId2"/>
              </a:rPr>
              <a:t> - </a:t>
            </a:r>
            <a:r>
              <a:rPr lang="pt-BR" sz="1100" dirty="0" err="1">
                <a:hlinkClick r:id="rId2"/>
              </a:rPr>
              <a:t>Hojas</a:t>
            </a:r>
            <a:r>
              <a:rPr lang="pt-BR" sz="1100" dirty="0">
                <a:hlinkClick r:id="rId2"/>
              </a:rPr>
              <a:t> de cálculo de Google</a:t>
            </a:r>
            <a:endParaRPr lang="es-ES" sz="1100" dirty="0">
              <a:hlinkClick r:id="rId3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E71B09C-39ED-6EB8-A5EA-24C2215DAC5F}"/>
              </a:ext>
            </a:extLst>
          </p:cNvPr>
          <p:cNvSpPr/>
          <p:nvPr/>
        </p:nvSpPr>
        <p:spPr>
          <a:xfrm>
            <a:off x="9922612" y="3157268"/>
            <a:ext cx="1483743" cy="19150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/>
              <a:t>MailRelay</a:t>
            </a:r>
            <a:endParaRPr lang="es-ES" dirty="0"/>
          </a:p>
          <a:p>
            <a:pPr algn="ctr"/>
            <a:endParaRPr lang="es-ES" dirty="0"/>
          </a:p>
          <a:p>
            <a:pPr algn="ctr"/>
            <a:r>
              <a:rPr lang="es-ES" b="0" i="0" dirty="0">
                <a:solidFill>
                  <a:srgbClr val="3C4043"/>
                </a:solidFill>
                <a:effectLst/>
                <a:latin typeface="Roboto" panose="02000000000000000000" pitchFamily="2" charset="0"/>
              </a:rPr>
              <a:t>HTML-</a:t>
            </a:r>
            <a:r>
              <a:rPr lang="es-ES" b="0" i="0" dirty="0" err="1">
                <a:solidFill>
                  <a:srgbClr val="3C4043"/>
                </a:solidFill>
                <a:effectLst/>
                <a:latin typeface="Roboto" panose="02000000000000000000" pitchFamily="2" charset="0"/>
              </a:rPr>
              <a:t>correu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35E36BF-A4AB-856A-D452-2E58CB91E917}"/>
              </a:ext>
            </a:extLst>
          </p:cNvPr>
          <p:cNvSpPr txBox="1"/>
          <p:nvPr/>
        </p:nvSpPr>
        <p:spPr>
          <a:xfrm>
            <a:off x="9516732" y="2551348"/>
            <a:ext cx="21113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hlinkClick r:id="rId4"/>
              </a:rPr>
              <a:t>https://mailrelay.com/</a:t>
            </a:r>
            <a:endParaRPr lang="es-ES" sz="11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8B7ECDE-DF1C-89D6-448D-40F71DB42344}"/>
              </a:ext>
            </a:extLst>
          </p:cNvPr>
          <p:cNvSpPr txBox="1"/>
          <p:nvPr/>
        </p:nvSpPr>
        <p:spPr>
          <a:xfrm>
            <a:off x="2774080" y="1199072"/>
            <a:ext cx="1716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Inserir el </a:t>
            </a:r>
            <a:r>
              <a:rPr lang="es-ES" dirty="0" err="1"/>
              <a:t>contingut</a:t>
            </a:r>
            <a:r>
              <a:rPr lang="es-ES" dirty="0"/>
              <a:t> del </a:t>
            </a:r>
            <a:r>
              <a:rPr lang="es-ES" dirty="0" err="1"/>
              <a:t>newsletter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BDBCC7-A665-1170-E3E3-4ADA33396647}"/>
              </a:ext>
            </a:extLst>
          </p:cNvPr>
          <p:cNvSpPr txBox="1"/>
          <p:nvPr/>
        </p:nvSpPr>
        <p:spPr>
          <a:xfrm>
            <a:off x="9806153" y="1199072"/>
            <a:ext cx="1716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Fusió</a:t>
            </a:r>
            <a:r>
              <a:rPr lang="es-ES" dirty="0"/>
              <a:t> de </a:t>
            </a:r>
            <a:r>
              <a:rPr lang="es-ES" dirty="0" err="1"/>
              <a:t>l'HTML</a:t>
            </a:r>
            <a:r>
              <a:rPr lang="es-ES" dirty="0"/>
              <a:t> </a:t>
            </a:r>
            <a:r>
              <a:rPr lang="es-ES" dirty="0" err="1"/>
              <a:t>amb</a:t>
            </a:r>
            <a:r>
              <a:rPr lang="es-ES" dirty="0"/>
              <a:t> </a:t>
            </a:r>
            <a:r>
              <a:rPr lang="es-ES" dirty="0" err="1"/>
              <a:t>els</a:t>
            </a:r>
            <a:r>
              <a:rPr lang="es-ES" dirty="0"/>
              <a:t> </a:t>
            </a:r>
            <a:r>
              <a:rPr lang="es-ES" dirty="0" err="1"/>
              <a:t>destinataris</a:t>
            </a:r>
            <a:r>
              <a:rPr lang="es-ES" dirty="0"/>
              <a:t> de </a:t>
            </a:r>
            <a:r>
              <a:rPr lang="es-ES" dirty="0" err="1"/>
              <a:t>correu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D2AF1F1-5B22-6843-4025-9426012A564D}"/>
              </a:ext>
            </a:extLst>
          </p:cNvPr>
          <p:cNvSpPr txBox="1"/>
          <p:nvPr/>
        </p:nvSpPr>
        <p:spPr>
          <a:xfrm>
            <a:off x="344932" y="1563960"/>
            <a:ext cx="1971935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Recopilación de noticias, comunicados, …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Diseño estético y estratégico de presentación</a:t>
            </a:r>
          </a:p>
        </p:txBody>
      </p:sp>
      <p:pic>
        <p:nvPicPr>
          <p:cNvPr id="1026" name="Picture 2" descr="Microsoft office excel - Iconos Social Media y Logos">
            <a:extLst>
              <a:ext uri="{FF2B5EF4-FFF2-40B4-BE49-F238E27FC236}">
                <a16:creationId xmlns:a16="http://schemas.microsoft.com/office/drawing/2014/main" id="{6541C5F0-FA8D-0E3F-821F-215954743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46" y="5072332"/>
            <a:ext cx="1299238" cy="129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B79AEAD5-81AD-990F-B32D-FA976A8DDBA1}"/>
              </a:ext>
            </a:extLst>
          </p:cNvPr>
          <p:cNvSpPr/>
          <p:nvPr/>
        </p:nvSpPr>
        <p:spPr>
          <a:xfrm>
            <a:off x="1058165" y="3921551"/>
            <a:ext cx="671961" cy="9427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568FFF1C-77E9-7A2C-2C78-CBE552B29AF2}"/>
              </a:ext>
            </a:extLst>
          </p:cNvPr>
          <p:cNvSpPr/>
          <p:nvPr/>
        </p:nvSpPr>
        <p:spPr>
          <a:xfrm>
            <a:off x="2462188" y="5519275"/>
            <a:ext cx="492433" cy="405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34" name="Picture 10" descr="Programador de iconos de computadora, dtp, ángulo, mueble, computadora png  | PNGWing">
            <a:extLst>
              <a:ext uri="{FF2B5EF4-FFF2-40B4-BE49-F238E27FC236}">
                <a16:creationId xmlns:a16="http://schemas.microsoft.com/office/drawing/2014/main" id="{12606F09-B816-1D41-B84D-98C9E13C3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319" y="5500302"/>
            <a:ext cx="1128557" cy="78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Flecha: hacia arriba 17">
            <a:extLst>
              <a:ext uri="{FF2B5EF4-FFF2-40B4-BE49-F238E27FC236}">
                <a16:creationId xmlns:a16="http://schemas.microsoft.com/office/drawing/2014/main" id="{15760E4D-317C-8DB6-4FB4-0E58C74806EF}"/>
              </a:ext>
            </a:extLst>
          </p:cNvPr>
          <p:cNvSpPr/>
          <p:nvPr/>
        </p:nvSpPr>
        <p:spPr>
          <a:xfrm>
            <a:off x="3507055" y="5131233"/>
            <a:ext cx="311084" cy="30613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38" name="Picture 14" descr="Archivo de extensión html - Iconos Archivos y Carpetas">
            <a:extLst>
              <a:ext uri="{FF2B5EF4-FFF2-40B4-BE49-F238E27FC236}">
                <a16:creationId xmlns:a16="http://schemas.microsoft.com/office/drawing/2014/main" id="{7F71D891-8396-A496-2DAA-D3D04AB35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139" y="3733231"/>
            <a:ext cx="696195" cy="696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20A8815E-CE10-FD5B-FB91-BD8180F5C95A}"/>
              </a:ext>
            </a:extLst>
          </p:cNvPr>
          <p:cNvSpPr txBox="1"/>
          <p:nvPr/>
        </p:nvSpPr>
        <p:spPr>
          <a:xfrm>
            <a:off x="5103637" y="2557104"/>
            <a:ext cx="171665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hlinkClick r:id="rId8"/>
              </a:rPr>
              <a:t>https://intranet.aster.cat/aster-publicacio</a:t>
            </a:r>
            <a:endParaRPr lang="es-ES" sz="1100" dirty="0"/>
          </a:p>
          <a:p>
            <a:pPr algn="ctr"/>
            <a:endParaRPr lang="es-ES" sz="11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786B1D5-DE2D-54C7-D376-79FDF3E89562}"/>
              </a:ext>
            </a:extLst>
          </p:cNvPr>
          <p:cNvSpPr txBox="1"/>
          <p:nvPr/>
        </p:nvSpPr>
        <p:spPr>
          <a:xfrm>
            <a:off x="5103637" y="1337571"/>
            <a:ext cx="1716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Obtenir </a:t>
            </a:r>
            <a:r>
              <a:rPr lang="fr-FR" dirty="0" err="1"/>
              <a:t>codi</a:t>
            </a:r>
            <a:r>
              <a:rPr lang="fr-FR" dirty="0"/>
              <a:t> font </a:t>
            </a:r>
            <a:r>
              <a:rPr lang="fr-FR" dirty="0" err="1"/>
              <a:t>del</a:t>
            </a:r>
            <a:r>
              <a:rPr lang="fr-FR" dirty="0"/>
              <a:t> </a:t>
            </a:r>
            <a:r>
              <a:rPr lang="fr-FR" dirty="0" err="1"/>
              <a:t>fitxer</a:t>
            </a:r>
            <a:r>
              <a:rPr lang="fr-FR" dirty="0"/>
              <a:t> HTML</a:t>
            </a:r>
            <a:endParaRPr lang="es-ES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4855FFEA-D9DD-BEA8-1F71-033A4196EA52}"/>
              </a:ext>
            </a:extLst>
          </p:cNvPr>
          <p:cNvGrpSpPr/>
          <p:nvPr/>
        </p:nvGrpSpPr>
        <p:grpSpPr>
          <a:xfrm>
            <a:off x="4727603" y="3891453"/>
            <a:ext cx="422044" cy="313774"/>
            <a:chOff x="4658222" y="3855563"/>
            <a:chExt cx="571306" cy="313774"/>
          </a:xfrm>
        </p:grpSpPr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91203EEA-0ECF-0D0E-EF36-F7FF25D9E683}"/>
                </a:ext>
              </a:extLst>
            </p:cNvPr>
            <p:cNvCxnSpPr>
              <a:cxnSpLocks/>
            </p:cNvCxnSpPr>
            <p:nvPr/>
          </p:nvCxnSpPr>
          <p:spPr>
            <a:xfrm>
              <a:off x="4658222" y="3855563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de flecha 42">
              <a:extLst>
                <a:ext uri="{FF2B5EF4-FFF2-40B4-BE49-F238E27FC236}">
                  <a16:creationId xmlns:a16="http://schemas.microsoft.com/office/drawing/2014/main" id="{CE8FEB7F-3EB0-8F6B-94DE-E424A6FB185B}"/>
                </a:ext>
              </a:extLst>
            </p:cNvPr>
            <p:cNvCxnSpPr>
              <a:cxnSpLocks/>
            </p:cNvCxnSpPr>
            <p:nvPr/>
          </p:nvCxnSpPr>
          <p:spPr>
            <a:xfrm>
              <a:off x="4667649" y="4007511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de flecha 43">
              <a:extLst>
                <a:ext uri="{FF2B5EF4-FFF2-40B4-BE49-F238E27FC236}">
                  <a16:creationId xmlns:a16="http://schemas.microsoft.com/office/drawing/2014/main" id="{7B15B665-BD64-D62C-E4F6-EB3C093087A8}"/>
                </a:ext>
              </a:extLst>
            </p:cNvPr>
            <p:cNvCxnSpPr>
              <a:cxnSpLocks/>
            </p:cNvCxnSpPr>
            <p:nvPr/>
          </p:nvCxnSpPr>
          <p:spPr>
            <a:xfrm>
              <a:off x="4658222" y="4169337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Flecha: hacia arriba 44">
            <a:extLst>
              <a:ext uri="{FF2B5EF4-FFF2-40B4-BE49-F238E27FC236}">
                <a16:creationId xmlns:a16="http://schemas.microsoft.com/office/drawing/2014/main" id="{0B1367D3-0C15-F2CE-5CFE-4A88C2E0B8D0}"/>
              </a:ext>
            </a:extLst>
          </p:cNvPr>
          <p:cNvSpPr/>
          <p:nvPr/>
        </p:nvSpPr>
        <p:spPr>
          <a:xfrm>
            <a:off x="5803097" y="5143470"/>
            <a:ext cx="311084" cy="30613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6" name="Picture 10" descr="Programador de iconos de computadora, dtp, ángulo, mueble, computadora png  | PNGWing">
            <a:extLst>
              <a:ext uri="{FF2B5EF4-FFF2-40B4-BE49-F238E27FC236}">
                <a16:creationId xmlns:a16="http://schemas.microsoft.com/office/drawing/2014/main" id="{F34B1518-2299-6D8F-C5D9-DA2A2FC06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179" y="5544596"/>
            <a:ext cx="1128557" cy="78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cono De Correo Electrónico En Estilo Plano PNG , Iconos De Correo  Electrónico, Iconos De Estilo, En Iconos PNG y Vector para Descargar Gratis  | Pngtree | Iconos de redes sociales, Iconos">
            <a:extLst>
              <a:ext uri="{FF2B5EF4-FFF2-40B4-BE49-F238E27FC236}">
                <a16:creationId xmlns:a16="http://schemas.microsoft.com/office/drawing/2014/main" id="{2C7F99A4-6676-CA18-BDA9-9AE01114C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1279" y="3783258"/>
            <a:ext cx="843937" cy="84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Flecha: hacia arriba 46">
            <a:extLst>
              <a:ext uri="{FF2B5EF4-FFF2-40B4-BE49-F238E27FC236}">
                <a16:creationId xmlns:a16="http://schemas.microsoft.com/office/drawing/2014/main" id="{42BC9E5D-17BF-F609-1E19-37C35693E762}"/>
              </a:ext>
            </a:extLst>
          </p:cNvPr>
          <p:cNvSpPr/>
          <p:nvPr/>
        </p:nvSpPr>
        <p:spPr>
          <a:xfrm>
            <a:off x="10572391" y="5131233"/>
            <a:ext cx="311084" cy="30613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8" name="Picture 10" descr="Programador de iconos de computadora, dtp, ángulo, mueble, computadora png  | PNGWing">
            <a:extLst>
              <a:ext uri="{FF2B5EF4-FFF2-40B4-BE49-F238E27FC236}">
                <a16:creationId xmlns:a16="http://schemas.microsoft.com/office/drawing/2014/main" id="{0BB3AD5C-DC13-1DBB-F7EF-49FE05289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3473" y="5532359"/>
            <a:ext cx="1128557" cy="78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3AEECB0A-2CD7-9014-0DA7-0647C0301593}"/>
              </a:ext>
            </a:extLst>
          </p:cNvPr>
          <p:cNvSpPr txBox="1"/>
          <p:nvPr/>
        </p:nvSpPr>
        <p:spPr>
          <a:xfrm>
            <a:off x="3321999" y="20474"/>
            <a:ext cx="538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DCF386D6-66C6-20A4-AA60-9EB373D5F6A4}"/>
              </a:ext>
            </a:extLst>
          </p:cNvPr>
          <p:cNvSpPr txBox="1"/>
          <p:nvPr/>
        </p:nvSpPr>
        <p:spPr>
          <a:xfrm>
            <a:off x="5533658" y="115999"/>
            <a:ext cx="538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2819ECB-CC69-F74E-77B6-6E75EFC2F314}"/>
              </a:ext>
            </a:extLst>
          </p:cNvPr>
          <p:cNvSpPr txBox="1"/>
          <p:nvPr/>
        </p:nvSpPr>
        <p:spPr>
          <a:xfrm>
            <a:off x="10302952" y="20474"/>
            <a:ext cx="538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>
                <a:solidFill>
                  <a:srgbClr val="FF0000"/>
                </a:solidFill>
              </a:rPr>
              <a:t>4</a:t>
            </a:r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76FC1E6E-0763-587D-07D5-5AB9B8D605D9}"/>
              </a:ext>
            </a:extLst>
          </p:cNvPr>
          <p:cNvGrpSpPr/>
          <p:nvPr/>
        </p:nvGrpSpPr>
        <p:grpSpPr>
          <a:xfrm>
            <a:off x="9384109" y="3896392"/>
            <a:ext cx="422044" cy="313774"/>
            <a:chOff x="4658222" y="3855563"/>
            <a:chExt cx="571306" cy="313774"/>
          </a:xfrm>
        </p:grpSpPr>
        <p:cxnSp>
          <p:nvCxnSpPr>
            <p:cNvPr id="54" name="Conector recto de flecha 53">
              <a:extLst>
                <a:ext uri="{FF2B5EF4-FFF2-40B4-BE49-F238E27FC236}">
                  <a16:creationId xmlns:a16="http://schemas.microsoft.com/office/drawing/2014/main" id="{8E500672-4B6B-B5B6-6F45-1A76AEDD230D}"/>
                </a:ext>
              </a:extLst>
            </p:cNvPr>
            <p:cNvCxnSpPr>
              <a:cxnSpLocks/>
            </p:cNvCxnSpPr>
            <p:nvPr/>
          </p:nvCxnSpPr>
          <p:spPr>
            <a:xfrm>
              <a:off x="4658222" y="3855563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de flecha 54">
              <a:extLst>
                <a:ext uri="{FF2B5EF4-FFF2-40B4-BE49-F238E27FC236}">
                  <a16:creationId xmlns:a16="http://schemas.microsoft.com/office/drawing/2014/main" id="{122E415C-2942-1B91-D975-42AADC1CD7E6}"/>
                </a:ext>
              </a:extLst>
            </p:cNvPr>
            <p:cNvCxnSpPr>
              <a:cxnSpLocks/>
            </p:cNvCxnSpPr>
            <p:nvPr/>
          </p:nvCxnSpPr>
          <p:spPr>
            <a:xfrm>
              <a:off x="4667649" y="4007511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D9511AE9-4E18-8FCF-BC2F-5E6949F656DC}"/>
                </a:ext>
              </a:extLst>
            </p:cNvPr>
            <p:cNvCxnSpPr>
              <a:cxnSpLocks/>
            </p:cNvCxnSpPr>
            <p:nvPr/>
          </p:nvCxnSpPr>
          <p:spPr>
            <a:xfrm>
              <a:off x="4658222" y="4169337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61629288-E676-2895-33E1-213B1AA002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0975" y="3667206"/>
            <a:ext cx="623747" cy="75183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97991DEE-B010-3662-A631-5B376E73B1E4}"/>
              </a:ext>
            </a:extLst>
          </p:cNvPr>
          <p:cNvSpPr/>
          <p:nvPr/>
        </p:nvSpPr>
        <p:spPr>
          <a:xfrm>
            <a:off x="7547376" y="3157268"/>
            <a:ext cx="1483743" cy="19150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ASTERBCN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Porta-</a:t>
            </a:r>
            <a:r>
              <a:rPr lang="es-ES" dirty="0" err="1"/>
              <a:t>papers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1270BB1-DA96-9360-F119-38F018398533}"/>
              </a:ext>
            </a:extLst>
          </p:cNvPr>
          <p:cNvSpPr txBox="1"/>
          <p:nvPr/>
        </p:nvSpPr>
        <p:spPr>
          <a:xfrm>
            <a:off x="7313370" y="2569494"/>
            <a:ext cx="19450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hlinkClick r:id="rId11"/>
              </a:rPr>
              <a:t>https://intranet.aster.cat/aster-publicacio/htmlcode</a:t>
            </a:r>
            <a:endParaRPr lang="es-ES" sz="11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841128A-E446-F619-BBE0-F895C4A268B4}"/>
              </a:ext>
            </a:extLst>
          </p:cNvPr>
          <p:cNvSpPr txBox="1"/>
          <p:nvPr/>
        </p:nvSpPr>
        <p:spPr>
          <a:xfrm>
            <a:off x="7430918" y="1337571"/>
            <a:ext cx="1716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Adaptar</a:t>
            </a:r>
            <a:r>
              <a:rPr lang="fr-FR" dirty="0"/>
              <a:t> HTML per a </a:t>
            </a:r>
            <a:r>
              <a:rPr lang="fr-FR" dirty="0" err="1"/>
              <a:t>MailRelay</a:t>
            </a:r>
            <a:endParaRPr lang="es-ES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48E722FD-583A-E3C2-ED64-A4DBFDC17CB0}"/>
              </a:ext>
            </a:extLst>
          </p:cNvPr>
          <p:cNvGrpSpPr/>
          <p:nvPr/>
        </p:nvGrpSpPr>
        <p:grpSpPr>
          <a:xfrm>
            <a:off x="7054884" y="3891453"/>
            <a:ext cx="422044" cy="313774"/>
            <a:chOff x="4658222" y="3855563"/>
            <a:chExt cx="571306" cy="313774"/>
          </a:xfrm>
        </p:grpSpPr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A3314E37-7F18-E1D4-99A2-556ADA846AC6}"/>
                </a:ext>
              </a:extLst>
            </p:cNvPr>
            <p:cNvCxnSpPr>
              <a:cxnSpLocks/>
            </p:cNvCxnSpPr>
            <p:nvPr/>
          </p:nvCxnSpPr>
          <p:spPr>
            <a:xfrm>
              <a:off x="4658222" y="3855563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458B6106-4C8B-5693-4F5C-30DB04BB3A45}"/>
                </a:ext>
              </a:extLst>
            </p:cNvPr>
            <p:cNvCxnSpPr>
              <a:cxnSpLocks/>
            </p:cNvCxnSpPr>
            <p:nvPr/>
          </p:nvCxnSpPr>
          <p:spPr>
            <a:xfrm>
              <a:off x="4667649" y="4007511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021AB047-83B8-A15A-EA90-5BE644FFF9EC}"/>
                </a:ext>
              </a:extLst>
            </p:cNvPr>
            <p:cNvCxnSpPr>
              <a:cxnSpLocks/>
            </p:cNvCxnSpPr>
            <p:nvPr/>
          </p:nvCxnSpPr>
          <p:spPr>
            <a:xfrm>
              <a:off x="4658222" y="4169337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Flecha: hacia arriba 20">
            <a:extLst>
              <a:ext uri="{FF2B5EF4-FFF2-40B4-BE49-F238E27FC236}">
                <a16:creationId xmlns:a16="http://schemas.microsoft.com/office/drawing/2014/main" id="{DB2BAD4F-FB1C-A6D1-6A1C-E7EBB45E044F}"/>
              </a:ext>
            </a:extLst>
          </p:cNvPr>
          <p:cNvSpPr/>
          <p:nvPr/>
        </p:nvSpPr>
        <p:spPr>
          <a:xfrm>
            <a:off x="8130378" y="5143470"/>
            <a:ext cx="311084" cy="30613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2" name="Picture 10" descr="Programador de iconos de computadora, dtp, ángulo, mueble, computadora png  | PNGWing">
            <a:extLst>
              <a:ext uri="{FF2B5EF4-FFF2-40B4-BE49-F238E27FC236}">
                <a16:creationId xmlns:a16="http://schemas.microsoft.com/office/drawing/2014/main" id="{3769C9D3-08E7-48FB-0D1C-6C4F68157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460" y="5544596"/>
            <a:ext cx="1128557" cy="78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2520DE39-2E9A-C868-A2F8-FCFC3C8DCC5D}"/>
              </a:ext>
            </a:extLst>
          </p:cNvPr>
          <p:cNvSpPr txBox="1"/>
          <p:nvPr/>
        </p:nvSpPr>
        <p:spPr>
          <a:xfrm>
            <a:off x="7860939" y="115999"/>
            <a:ext cx="538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>
                <a:solidFill>
                  <a:srgbClr val="FF0000"/>
                </a:solidFill>
              </a:rPr>
              <a:t>3</a:t>
            </a:r>
          </a:p>
        </p:txBody>
      </p:sp>
      <p:pic>
        <p:nvPicPr>
          <p:cNvPr id="38" name="Imagen 37" descr="Icono&#10;&#10;Descripción generada automáticamente">
            <a:extLst>
              <a:ext uri="{FF2B5EF4-FFF2-40B4-BE49-F238E27FC236}">
                <a16:creationId xmlns:a16="http://schemas.microsoft.com/office/drawing/2014/main" id="{FC0DCC79-63FA-E308-A2C6-87556483482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220" y="3804562"/>
            <a:ext cx="689797" cy="68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563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8718DC45-EF23-7482-B5F5-652A7703D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" y="3224508"/>
            <a:ext cx="7723134" cy="175284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9E9289A-0F7E-9253-B655-A7ECD79EC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7974" y="0"/>
            <a:ext cx="4478294" cy="6795163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AB850CD-2B22-2723-C0E5-FC3E2C22E55E}"/>
              </a:ext>
            </a:extLst>
          </p:cNvPr>
          <p:cNvCxnSpPr>
            <a:cxnSpLocks/>
          </p:cNvCxnSpPr>
          <p:nvPr/>
        </p:nvCxnSpPr>
        <p:spPr>
          <a:xfrm flipV="1">
            <a:off x="622169" y="1781666"/>
            <a:ext cx="9257122" cy="1932495"/>
          </a:xfrm>
          <a:prstGeom prst="straightConnector1">
            <a:avLst/>
          </a:prstGeom>
          <a:ln w="254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16A32771-EEB1-A207-6204-DD7179C88C15}"/>
              </a:ext>
            </a:extLst>
          </p:cNvPr>
          <p:cNvCxnSpPr>
            <a:cxnSpLocks/>
          </p:cNvCxnSpPr>
          <p:nvPr/>
        </p:nvCxnSpPr>
        <p:spPr>
          <a:xfrm flipV="1">
            <a:off x="961534" y="1668544"/>
            <a:ext cx="9568206" cy="319568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B0C7B527-8262-2748-D487-FCAF4B2ADDDA}"/>
              </a:ext>
            </a:extLst>
          </p:cNvPr>
          <p:cNvCxnSpPr>
            <a:cxnSpLocks/>
          </p:cNvCxnSpPr>
          <p:nvPr/>
        </p:nvCxnSpPr>
        <p:spPr>
          <a:xfrm flipV="1">
            <a:off x="2564091" y="2130458"/>
            <a:ext cx="7220932" cy="1849755"/>
          </a:xfrm>
          <a:prstGeom prst="straightConnector1">
            <a:avLst/>
          </a:prstGeom>
          <a:ln w="254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C98A1013-2E3A-AD20-F8E5-CB4B085DD4AA}"/>
              </a:ext>
            </a:extLst>
          </p:cNvPr>
          <p:cNvCxnSpPr>
            <a:cxnSpLocks/>
          </p:cNvCxnSpPr>
          <p:nvPr/>
        </p:nvCxnSpPr>
        <p:spPr>
          <a:xfrm>
            <a:off x="2422689" y="4329005"/>
            <a:ext cx="7088956" cy="535226"/>
          </a:xfrm>
          <a:prstGeom prst="straightConnector1">
            <a:avLst/>
          </a:prstGeom>
          <a:ln w="254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09F6D2A-A08B-1434-EA8B-2B120258448A}"/>
              </a:ext>
            </a:extLst>
          </p:cNvPr>
          <p:cNvCxnSpPr>
            <a:cxnSpLocks/>
          </p:cNvCxnSpPr>
          <p:nvPr/>
        </p:nvCxnSpPr>
        <p:spPr>
          <a:xfrm>
            <a:off x="5156462" y="4329005"/>
            <a:ext cx="3403076" cy="842648"/>
          </a:xfrm>
          <a:prstGeom prst="straightConnector1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182AC6C-B389-99F8-57E3-D04F82E77DA7}"/>
              </a:ext>
            </a:extLst>
          </p:cNvPr>
          <p:cNvCxnSpPr>
            <a:cxnSpLocks/>
          </p:cNvCxnSpPr>
          <p:nvPr/>
        </p:nvCxnSpPr>
        <p:spPr>
          <a:xfrm>
            <a:off x="5156462" y="4100930"/>
            <a:ext cx="3770722" cy="208301"/>
          </a:xfrm>
          <a:prstGeom prst="straightConnector1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A12CE444-1B01-BD37-3D66-0894552FC148}"/>
              </a:ext>
            </a:extLst>
          </p:cNvPr>
          <p:cNvCxnSpPr>
            <a:cxnSpLocks/>
          </p:cNvCxnSpPr>
          <p:nvPr/>
        </p:nvCxnSpPr>
        <p:spPr>
          <a:xfrm>
            <a:off x="6372520" y="4370644"/>
            <a:ext cx="2205871" cy="1521109"/>
          </a:xfrm>
          <a:prstGeom prst="straightConnector1">
            <a:avLst/>
          </a:prstGeom>
          <a:ln w="254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DA1A7077-DB4A-C94E-FF94-25B742EC8FBA}"/>
              </a:ext>
            </a:extLst>
          </p:cNvPr>
          <p:cNvSpPr txBox="1"/>
          <p:nvPr/>
        </p:nvSpPr>
        <p:spPr>
          <a:xfrm>
            <a:off x="183364" y="30605"/>
            <a:ext cx="110866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600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85655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D64C3-6C7E-8C50-A64D-53C166B94EB0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6000"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2-3 – Obtener código fuente de la página web</a:t>
            </a:r>
          </a:p>
        </p:txBody>
      </p:sp>
    </p:spTree>
    <p:extLst>
      <p:ext uri="{BB962C8B-B14F-4D97-AF65-F5344CB8AC3E}">
        <p14:creationId xmlns:p14="http://schemas.microsoft.com/office/powerpoint/2010/main" val="2362875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3C2D600-0C4D-F648-32C7-D0AA97780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910" y="948906"/>
            <a:ext cx="3496377" cy="530524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CD1EC23-88E2-CE27-35CE-5A2C879BCBD2}"/>
              </a:ext>
            </a:extLst>
          </p:cNvPr>
          <p:cNvSpPr txBox="1"/>
          <p:nvPr/>
        </p:nvSpPr>
        <p:spPr>
          <a:xfrm>
            <a:off x="-43829" y="2131441"/>
            <a:ext cx="110866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6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DDD5355-D520-ED62-253D-9BD7D2D84720}"/>
              </a:ext>
            </a:extLst>
          </p:cNvPr>
          <p:cNvSpPr txBox="1"/>
          <p:nvPr/>
        </p:nvSpPr>
        <p:spPr>
          <a:xfrm>
            <a:off x="2116948" y="331120"/>
            <a:ext cx="17166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hlinkClick r:id="rId3"/>
              </a:rPr>
              <a:t>https://intranet.aster.cat/aster-publicacio/</a:t>
            </a:r>
            <a:endParaRPr lang="es-ES" sz="11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35725D3-E281-9AD5-93C3-1BC7BA21A8F6}"/>
              </a:ext>
            </a:extLst>
          </p:cNvPr>
          <p:cNvSpPr txBox="1"/>
          <p:nvPr/>
        </p:nvSpPr>
        <p:spPr>
          <a:xfrm>
            <a:off x="5671973" y="2004708"/>
            <a:ext cx="110866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6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6038C8A-8AC6-4309-4B43-C8B4986BFB0F}"/>
              </a:ext>
            </a:extLst>
          </p:cNvPr>
          <p:cNvSpPr txBox="1"/>
          <p:nvPr/>
        </p:nvSpPr>
        <p:spPr>
          <a:xfrm>
            <a:off x="7756133" y="331119"/>
            <a:ext cx="19450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hlinkClick r:id="rId4"/>
              </a:rPr>
              <a:t>https://intranet.aster.cat/aster-publicacio/htmlcode</a:t>
            </a:r>
            <a:endParaRPr lang="es-ES" sz="11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3CA4E9C-D987-AFD1-6DE9-25CE597DC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8403" y="948907"/>
            <a:ext cx="4062022" cy="474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565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D64C3-6C7E-8C50-A64D-53C166B94EB0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6000"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4 – Envío de emails</a:t>
            </a:r>
          </a:p>
        </p:txBody>
      </p:sp>
    </p:spTree>
    <p:extLst>
      <p:ext uri="{BB962C8B-B14F-4D97-AF65-F5344CB8AC3E}">
        <p14:creationId xmlns:p14="http://schemas.microsoft.com/office/powerpoint/2010/main" val="1029428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0AA785F-89B7-C0A6-FE12-B6F4D84B0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687" y="2311832"/>
            <a:ext cx="6656111" cy="3028057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D8A3B23-1798-DEF6-690F-0C0DCAA79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362" y="5028274"/>
            <a:ext cx="2529721" cy="153281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A04FD9B-2D32-15E4-168F-C6B74B7BB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7740" y="296911"/>
            <a:ext cx="6656111" cy="1442983"/>
          </a:xfrm>
          <a:prstGeom prst="rect">
            <a:avLst/>
          </a:prstGeom>
        </p:spPr>
      </p:pic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613207E2-0476-573C-4B9B-13B6204DECD0}"/>
              </a:ext>
            </a:extLst>
          </p:cNvPr>
          <p:cNvCxnSpPr>
            <a:cxnSpLocks/>
          </p:cNvCxnSpPr>
          <p:nvPr/>
        </p:nvCxnSpPr>
        <p:spPr>
          <a:xfrm flipH="1">
            <a:off x="7531637" y="1327680"/>
            <a:ext cx="311701" cy="3102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A3130B0A-B418-59F7-A255-F007C8A85E74}"/>
              </a:ext>
            </a:extLst>
          </p:cNvPr>
          <p:cNvCxnSpPr>
            <a:cxnSpLocks/>
          </p:cNvCxnSpPr>
          <p:nvPr/>
        </p:nvCxnSpPr>
        <p:spPr>
          <a:xfrm flipH="1">
            <a:off x="3910595" y="5238208"/>
            <a:ext cx="311701" cy="3102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384BB7A8-B3E2-A18F-57D4-3D1DCB5CD7D5}"/>
              </a:ext>
            </a:extLst>
          </p:cNvPr>
          <p:cNvSpPr txBox="1"/>
          <p:nvPr/>
        </p:nvSpPr>
        <p:spPr>
          <a:xfrm>
            <a:off x="-26696" y="2502422"/>
            <a:ext cx="110866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600" dirty="0">
                <a:solidFill>
                  <a:srgbClr val="FF0000"/>
                </a:solidFill>
              </a:rPr>
              <a:t>4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FDB3F84-0798-6367-C199-BFE74DF14714}"/>
              </a:ext>
            </a:extLst>
          </p:cNvPr>
          <p:cNvCxnSpPr>
            <a:cxnSpLocks/>
          </p:cNvCxnSpPr>
          <p:nvPr/>
        </p:nvCxnSpPr>
        <p:spPr>
          <a:xfrm flipH="1">
            <a:off x="4307506" y="2774943"/>
            <a:ext cx="311701" cy="3102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F3F78BDA-2B02-F97E-EBD2-BC68B3AAC87C}"/>
              </a:ext>
            </a:extLst>
          </p:cNvPr>
          <p:cNvCxnSpPr>
            <a:cxnSpLocks/>
          </p:cNvCxnSpPr>
          <p:nvPr/>
        </p:nvCxnSpPr>
        <p:spPr>
          <a:xfrm flipH="1">
            <a:off x="4396177" y="3548686"/>
            <a:ext cx="311701" cy="3102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FBE3A3F-785B-E667-E433-BB27D9621846}"/>
              </a:ext>
            </a:extLst>
          </p:cNvPr>
          <p:cNvCxnSpPr>
            <a:cxnSpLocks/>
          </p:cNvCxnSpPr>
          <p:nvPr/>
        </p:nvCxnSpPr>
        <p:spPr>
          <a:xfrm flipH="1">
            <a:off x="4307505" y="4563807"/>
            <a:ext cx="311701" cy="3102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n 22">
            <a:extLst>
              <a:ext uri="{FF2B5EF4-FFF2-40B4-BE49-F238E27FC236}">
                <a16:creationId xmlns:a16="http://schemas.microsoft.com/office/drawing/2014/main" id="{FD9B8059-BEDB-BF9F-D84B-6A0F1C695E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950" y="5038838"/>
            <a:ext cx="3026901" cy="1691347"/>
          </a:xfrm>
          <a:prstGeom prst="rect">
            <a:avLst/>
          </a:prstGeom>
        </p:spPr>
      </p:pic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FBF96A1A-4958-F982-B6EE-D8B6DFC6142E}"/>
              </a:ext>
            </a:extLst>
          </p:cNvPr>
          <p:cNvCxnSpPr>
            <a:cxnSpLocks/>
          </p:cNvCxnSpPr>
          <p:nvPr/>
        </p:nvCxnSpPr>
        <p:spPr>
          <a:xfrm flipH="1">
            <a:off x="7136208" y="6250790"/>
            <a:ext cx="311701" cy="3102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C107E4EB-B366-7B0F-D9F6-035AAD6C7DCB}"/>
              </a:ext>
            </a:extLst>
          </p:cNvPr>
          <p:cNvCxnSpPr>
            <a:cxnSpLocks/>
          </p:cNvCxnSpPr>
          <p:nvPr/>
        </p:nvCxnSpPr>
        <p:spPr>
          <a:xfrm flipH="1">
            <a:off x="7751412" y="1335705"/>
            <a:ext cx="311701" cy="3102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822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3799</TotalTime>
  <Words>136</Words>
  <Application>Microsoft Office PowerPoint</Application>
  <PresentationFormat>Panorámica</PresentationFormat>
  <Paragraphs>37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Roboto</vt:lpstr>
      <vt:lpstr>Tema de Office</vt:lpstr>
      <vt:lpstr>1 - Actualizar el fichero de contenidos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1 - Actualizar el fichero de contenidos</dc:title>
  <dc:creator>Jordi Blanca</dc:creator>
  <cp:lastModifiedBy>Jordi Blanca</cp:lastModifiedBy>
  <cp:revision>14</cp:revision>
  <dcterms:created xsi:type="dcterms:W3CDTF">2023-12-04T12:18:17Z</dcterms:created>
  <dcterms:modified xsi:type="dcterms:W3CDTF">2026-06-21T13:24:08Z</dcterms:modified>
</cp:coreProperties>
</file>