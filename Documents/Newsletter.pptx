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74" r:id="rId4"/>
    <p:sldId id="267" r:id="rId5"/>
    <p:sldId id="260" r:id="rId6"/>
    <p:sldId id="261" r:id="rId7"/>
    <p:sldId id="269" r:id="rId8"/>
    <p:sldId id="262" r:id="rId9"/>
    <p:sldId id="270" r:id="rId10"/>
    <p:sldId id="263" r:id="rId11"/>
    <p:sldId id="264" r:id="rId12"/>
    <p:sldId id="265" r:id="rId13"/>
    <p:sldId id="271" r:id="rId14"/>
    <p:sldId id="272" r:id="rId15"/>
    <p:sldId id="273" r:id="rId16"/>
    <p:sldId id="275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73BBC-008E-BCFB-7846-9DCD9F4F0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A31640-4F8D-585D-DC69-B713FC0B2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E55EC9-8CD8-355E-2948-9E3B55DF3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10F590-8ACC-FDCB-F9CE-44C1CA12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380DF2-0C86-8610-91AA-9DAC271B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9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C5883-2F30-F29D-74B0-EBCBE0DA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C402C6-55F4-1210-D0A6-A44269BF1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ED3F80-127B-DE5F-FFE5-EB90F542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3A689-A49B-D0E4-81B7-D0D28B35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9D85E2-84A8-D692-AA0C-08D1D7FF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675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52324-829C-BF63-4F81-E4952DED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9B4BF-FE9C-6061-D153-073ECE458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EDB05-9848-F3CD-92FB-39F3397C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37286-1897-EE26-3124-4270FBC1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7BABB-483B-95AB-7214-6AFCEED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02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BB542-ACF7-5C09-8274-85F859D47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6C2E0-1B13-6C77-DEC6-138B37FEBA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C194C7-1123-C21B-1556-BFAF462D5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101F8-DEA2-AE37-8282-34B07769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68D11F-3189-ED58-4DD9-03A7341DD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25CE1B-258B-D512-8957-C56D1E74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31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1794F-3FA6-C4E6-AFB3-812CF20DB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1A8ED0-6943-AC96-9A32-590E23D1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B1388E-7115-90C3-2234-F77AC205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4EC6D2-C5B9-2CF6-ECF6-67CD3FD8A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DFC0BD-A184-3428-E794-69A5ABCE3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BC17DA-D56B-412B-DDD0-FECA03A5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98EEB6-7C8A-AF53-9698-93664C36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40BF1D-C444-3725-DFD4-90528ED4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378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A82C2-EC04-7974-2A9C-6CCCECB7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FCE0C6-CE02-75FD-EA58-AF675740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2F7010-E69E-DAD7-59D0-D9EC37D3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77AE2E-06B1-33DB-4FDC-E7CD294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8900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CC40C9-C849-E275-5BD7-13A4C795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DDC141-7637-BF2E-34D2-1826D1C7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74153A-2014-18D1-86C9-47089324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607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FFB9F-DDD3-BE6E-8B15-D0D0DE71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F05916-19FB-232A-A207-5AB302E0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E06663-0177-3C69-40AB-545160E2D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6E97F-0C74-1CF4-8D00-36812296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2C5C85-C252-CB23-C64A-B133EE3F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A63AB1-9BCA-5146-BCFF-8933C874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92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37AD2-3D76-156C-99B3-6B9B2A4A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87F904-1F1A-9B06-09BC-5D7628E53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68BBAA-B0EF-D711-1C29-3E2C7D03F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C7A152-50EE-BC1D-57A9-760675CD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269F19-A971-8B6D-2752-32127D1E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CA54D7-AAD1-A80E-8C73-E1C8CA03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273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871A9-A7CE-9A31-1DEA-3431B5DA9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D8C884-A7DD-3156-BEDE-4970D575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F6F24-0F71-E0B5-4776-53342DA5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00184-700B-BA3B-7D6B-3F95154D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42F51-B0AF-47EB-85F3-8AC66432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965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8E94D5-6F1D-A33D-5454-191ADEB2B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2DF42B-BB31-3114-3689-69A6686B4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FF2695-2897-AF0A-580C-44A0F2B00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BA4063-9236-A98F-7FEA-6EA95C13C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B5C885-D471-D103-A52E-DF5D55DF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51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2A4D96F-38D9-C883-2688-ADA87601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605840-3CB5-F1A4-5C1A-DE459DB4F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A41DF4-350E-6870-E91A-6B8685D9C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50466-656F-490F-AF25-ED87A19EECF4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25C3F8-B779-05D0-813F-EFA7568AA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FD3A7-FFF1-2F64-2586-4C15067DF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22EAD-6F67-47AC-A07C-2EB3F11FA54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0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docs.google.com/spreadsheets/d/1vfzIMOcvkcCMCfn1FC87TQvFoXlkoV_mrD4TTfb3Dj8/edit#gid=0" TargetMode="External"/><Relationship Id="rId7" Type="http://schemas.openxmlformats.org/officeDocument/2006/relationships/image" Target="../media/image1.png"/><Relationship Id="rId12" Type="http://schemas.openxmlformats.org/officeDocument/2006/relationships/image" Target="../media/image5.jpeg"/><Relationship Id="rId2" Type="http://schemas.openxmlformats.org/officeDocument/2006/relationships/hyperlink" Target="mailto:informacionsaster@gmail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us13.admin.mailchimp.com/" TargetMode="External"/><Relationship Id="rId11" Type="http://schemas.openxmlformats.org/officeDocument/2006/relationships/image" Target="../media/image4.jpeg"/><Relationship Id="rId5" Type="http://schemas.openxmlformats.org/officeDocument/2006/relationships/hyperlink" Target="https://github.com/AsterBCN/newsletter/actions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github.com/AsterBCN/repository/edit/main/db.json" TargetMode="External"/><Relationship Id="rId9" Type="http://schemas.openxmlformats.org/officeDocument/2006/relationships/hyperlink" Target="https://asterbcn.github.io/newsletter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aptWhite/my-newsletter/actions" TargetMode="External"/><Relationship Id="rId13" Type="http://schemas.openxmlformats.org/officeDocument/2006/relationships/hyperlink" Target="https://captwhite.github.io/my-newsletter/catalog/" TargetMode="External"/><Relationship Id="rId3" Type="http://schemas.openxmlformats.org/officeDocument/2006/relationships/hyperlink" Target="https://developers.google.com/drive/api/guides/limits?hl=es-419" TargetMode="External"/><Relationship Id="rId7" Type="http://schemas.openxmlformats.org/officeDocument/2006/relationships/hyperlink" Target="https://github.com/AsterBCN/newsletter/actions" TargetMode="External"/><Relationship Id="rId12" Type="http://schemas.openxmlformats.org/officeDocument/2006/relationships/hyperlink" Target="https://captwhite.github.io/my-newsletter/" TargetMode="External"/><Relationship Id="rId2" Type="http://schemas.openxmlformats.org/officeDocument/2006/relationships/hyperlink" Target="https://console.cloud.google.com/cloud-resource-manager?hl=es-419&amp;_ga=2.167510462.1063010902.1703070477-914047359.1702463079&amp;authuser=2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oogle.com/spreadsheets/d/1rk8YjrBCUcmoh6Cw8WF0zhU-INHPoL7zFaZUpZ_Xx_4/edit#gid=0" TargetMode="External"/><Relationship Id="rId11" Type="http://schemas.openxmlformats.org/officeDocument/2006/relationships/hyperlink" Target="https://asterbcn.github.io/newsletter/item/-101/" TargetMode="External"/><Relationship Id="rId5" Type="http://schemas.openxmlformats.org/officeDocument/2006/relationships/hyperlink" Target="https://drive.google.com/drive/u/2/folders/1Tvnu5aNOrLTRr57M5TX1-7j591uoaDq8" TargetMode="External"/><Relationship Id="rId15" Type="http://schemas.openxmlformats.org/officeDocument/2006/relationships/hyperlink" Target="https://us13.admin.mailchimp.com/templates/" TargetMode="External"/><Relationship Id="rId10" Type="http://schemas.openxmlformats.org/officeDocument/2006/relationships/hyperlink" Target="https://asterbcn.github.io/newsletter/catalog/" TargetMode="External"/><Relationship Id="rId4" Type="http://schemas.openxmlformats.org/officeDocument/2006/relationships/hyperlink" Target="https://console.developers.google.com/" TargetMode="External"/><Relationship Id="rId9" Type="http://schemas.openxmlformats.org/officeDocument/2006/relationships/hyperlink" Target="https://asterbcn.github.io/newsletter/" TargetMode="External"/><Relationship Id="rId14" Type="http://schemas.openxmlformats.org/officeDocument/2006/relationships/hyperlink" Target="https://captwhite.github.io/my-newsletter/item/-101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github.com/AsterBCN/newsletter/actions" TargetMode="External"/><Relationship Id="rId7" Type="http://schemas.openxmlformats.org/officeDocument/2006/relationships/image" Target="../media/image11.png"/><Relationship Id="rId2" Type="http://schemas.openxmlformats.org/officeDocument/2006/relationships/hyperlink" Target="https://github.com/CaptWhite/newsletter/action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hyperlink" Target="https://asterbcn.github.io/newsletter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captwhite.github.io/newsletter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asterbcn.github.io/newsletter/item/6" TargetMode="External"/><Relationship Id="rId2" Type="http://schemas.openxmlformats.org/officeDocument/2006/relationships/hyperlink" Target="https://asterbcn.github.io/newsletter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hyperlink" Target="https://asterbcn.github.io/newsletter/catalog" TargetMode="Externa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sterbcn.github.io/newsletter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u/2/home" TargetMode="External"/><Relationship Id="rId2" Type="http://schemas.openxmlformats.org/officeDocument/2006/relationships/hyperlink" Target="mailto:informacionsaster@gmail.com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strosabadell.org/es/observacio/aquest-mes-al-cel" TargetMode="External"/><Relationship Id="rId2" Type="http://schemas.openxmlformats.org/officeDocument/2006/relationships/hyperlink" Target="https://astrosabadell.org/es/observacio/ahora-en-el-cielo-menu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strosabadell.org/es/grups-d-activitats/grups-de-recerca" TargetMode="External"/><Relationship Id="rId4" Type="http://schemas.openxmlformats.org/officeDocument/2006/relationships/hyperlink" Target="https://astrosabadell.org/directe/#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9CB3A-9C00-65DC-EEC0-88B7DBCD7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1 - Actualizar el fichero de contenidos</a:t>
            </a:r>
          </a:p>
        </p:txBody>
      </p:sp>
    </p:spTree>
    <p:extLst>
      <p:ext uri="{BB962C8B-B14F-4D97-AF65-F5344CB8AC3E}">
        <p14:creationId xmlns:p14="http://schemas.microsoft.com/office/powerpoint/2010/main" val="2061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7FF0EF33-FA05-2C12-E961-2D9A3BCE3C90}"/>
              </a:ext>
            </a:extLst>
          </p:cNvPr>
          <p:cNvSpPr/>
          <p:nvPr/>
        </p:nvSpPr>
        <p:spPr>
          <a:xfrm>
            <a:off x="7276496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ASTERBCN</a:t>
            </a:r>
          </a:p>
          <a:p>
            <a:pPr algn="ctr"/>
            <a:endParaRPr lang="es-ES" dirty="0"/>
          </a:p>
          <a:p>
            <a:pPr algn="ctr"/>
            <a:r>
              <a:rPr lang="es-ES" dirty="0" err="1"/>
              <a:t>Pàginas</a:t>
            </a:r>
            <a:r>
              <a:rPr lang="es-ES" dirty="0"/>
              <a:t>  HTML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30AF73-3033-0195-BBBE-42D1AA346764}"/>
              </a:ext>
            </a:extLst>
          </p:cNvPr>
          <p:cNvSpPr/>
          <p:nvPr/>
        </p:nvSpPr>
        <p:spPr>
          <a:xfrm>
            <a:off x="2614057" y="3157268"/>
            <a:ext cx="1612571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DRIVE.GOOGLE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Dades</a:t>
            </a:r>
          </a:p>
          <a:p>
            <a:pPr algn="ctr"/>
            <a:r>
              <a:rPr lang="es-ES" dirty="0"/>
              <a:t>(</a:t>
            </a:r>
            <a:r>
              <a:rPr lang="es-ES" dirty="0" err="1"/>
              <a:t>Sheets</a:t>
            </a:r>
            <a:r>
              <a:rPr lang="es-ES" dirty="0"/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85E7AFB-170F-FF13-69D3-D15A4AD6D178}"/>
              </a:ext>
            </a:extLst>
          </p:cNvPr>
          <p:cNvSpPr txBox="1"/>
          <p:nvPr/>
        </p:nvSpPr>
        <p:spPr>
          <a:xfrm>
            <a:off x="2429098" y="2579623"/>
            <a:ext cx="21113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2"/>
              </a:rPr>
              <a:t>informacionsaster@gmail.com</a:t>
            </a:r>
            <a:endParaRPr lang="es-ES" sz="1100" dirty="0"/>
          </a:p>
          <a:p>
            <a:pPr algn="ctr"/>
            <a:r>
              <a:rPr lang="es-ES" sz="1100" dirty="0">
                <a:hlinkClick r:id="rId3"/>
              </a:rPr>
              <a:t>Aster </a:t>
            </a:r>
            <a:r>
              <a:rPr lang="es-ES" sz="1100" dirty="0" err="1">
                <a:hlinkClick r:id="rId3"/>
              </a:rPr>
              <a:t>Publicacions</a:t>
            </a:r>
            <a:r>
              <a:rPr lang="es-ES" sz="1100" dirty="0">
                <a:hlinkClick r:id="rId3"/>
              </a:rPr>
              <a:t> - </a:t>
            </a:r>
            <a:r>
              <a:rPr lang="es-ES" sz="1100" dirty="0" err="1">
                <a:hlinkClick r:id="rId3"/>
              </a:rPr>
              <a:t>Fulls</a:t>
            </a:r>
            <a:r>
              <a:rPr lang="es-ES" sz="1100" dirty="0">
                <a:hlinkClick r:id="rId3"/>
              </a:rPr>
              <a:t> de </a:t>
            </a:r>
            <a:r>
              <a:rPr lang="es-ES" sz="1100" dirty="0" err="1">
                <a:hlinkClick r:id="rId3"/>
              </a:rPr>
              <a:t>càlcul</a:t>
            </a:r>
            <a:r>
              <a:rPr lang="es-ES" sz="1100" dirty="0">
                <a:hlinkClick r:id="rId3"/>
              </a:rPr>
              <a:t> de Google</a:t>
            </a:r>
            <a:endParaRPr lang="es-ES" sz="11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87D08B-E653-C4ED-779D-A08C07C9FF58}"/>
              </a:ext>
            </a:extLst>
          </p:cNvPr>
          <p:cNvSpPr/>
          <p:nvPr/>
        </p:nvSpPr>
        <p:spPr>
          <a:xfrm>
            <a:off x="5081488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GITHUB</a:t>
            </a:r>
          </a:p>
          <a:p>
            <a:pPr algn="ctr"/>
            <a:endParaRPr lang="es-ES" dirty="0"/>
          </a:p>
          <a:p>
            <a:pPr algn="ctr"/>
            <a:r>
              <a:rPr lang="es-ES" dirty="0" err="1"/>
              <a:t>Pàginas</a:t>
            </a:r>
            <a:r>
              <a:rPr lang="es-ES" dirty="0"/>
              <a:t>  HTML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711305-3382-134C-734D-26D2B85F71B1}"/>
              </a:ext>
            </a:extLst>
          </p:cNvPr>
          <p:cNvSpPr txBox="1"/>
          <p:nvPr/>
        </p:nvSpPr>
        <p:spPr>
          <a:xfrm>
            <a:off x="4786551" y="2579623"/>
            <a:ext cx="21113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4"/>
              </a:rPr>
              <a:t>despatx4@aster.cat</a:t>
            </a:r>
          </a:p>
          <a:p>
            <a:pPr algn="ctr"/>
            <a:r>
              <a:rPr lang="es-ES" sz="1100" dirty="0">
                <a:hlinkClick r:id="rId5"/>
              </a:rPr>
              <a:t>https://github.com/AsterBCN/newsletter/actions</a:t>
            </a:r>
            <a:endParaRPr lang="es-ES" sz="11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71B09C-39ED-6EB8-A5EA-24C2215DAC5F}"/>
              </a:ext>
            </a:extLst>
          </p:cNvPr>
          <p:cNvSpPr/>
          <p:nvPr/>
        </p:nvSpPr>
        <p:spPr>
          <a:xfrm>
            <a:off x="9632635" y="3157268"/>
            <a:ext cx="1483743" cy="19150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err="1"/>
              <a:t>MailChim</a:t>
            </a:r>
            <a:endParaRPr lang="es-ES" dirty="0"/>
          </a:p>
          <a:p>
            <a:pPr algn="ctr"/>
            <a:endParaRPr lang="es-ES" dirty="0"/>
          </a:p>
          <a:p>
            <a:pPr algn="ctr"/>
            <a:r>
              <a:rPr lang="es-ES" b="0" i="0" dirty="0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HTML-</a:t>
            </a:r>
            <a:r>
              <a:rPr lang="es-ES" b="0" i="0" dirty="0" err="1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correu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5E36BF-A4AB-856A-D452-2E58CB91E917}"/>
              </a:ext>
            </a:extLst>
          </p:cNvPr>
          <p:cNvSpPr txBox="1"/>
          <p:nvPr/>
        </p:nvSpPr>
        <p:spPr>
          <a:xfrm>
            <a:off x="9318848" y="2579623"/>
            <a:ext cx="211131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4"/>
              </a:rPr>
              <a:t>despatx4@aster.cat</a:t>
            </a:r>
          </a:p>
          <a:p>
            <a:pPr algn="ctr"/>
            <a:r>
              <a:rPr lang="es-ES" sz="1100" dirty="0">
                <a:hlinkClick r:id="rId6"/>
              </a:rPr>
              <a:t>https://us13.admin.mailchimp.com/</a:t>
            </a:r>
            <a:endParaRPr lang="es-ES" sz="11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B7ECDE-DF1C-89D6-448D-40F71DB42344}"/>
              </a:ext>
            </a:extLst>
          </p:cNvPr>
          <p:cNvSpPr txBox="1"/>
          <p:nvPr/>
        </p:nvSpPr>
        <p:spPr>
          <a:xfrm>
            <a:off x="2596237" y="1199072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Inserir el </a:t>
            </a:r>
            <a:r>
              <a:rPr lang="es-ES" dirty="0" err="1"/>
              <a:t>contingut</a:t>
            </a:r>
            <a:r>
              <a:rPr lang="es-ES" dirty="0"/>
              <a:t> del </a:t>
            </a:r>
            <a:r>
              <a:rPr lang="es-ES" dirty="0" err="1"/>
              <a:t>newsletter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805E47-29F9-8EF0-8F9C-FE7EDA9C5A17}"/>
              </a:ext>
            </a:extLst>
          </p:cNvPr>
          <p:cNvSpPr txBox="1"/>
          <p:nvPr/>
        </p:nvSpPr>
        <p:spPr>
          <a:xfrm>
            <a:off x="4965029" y="1225255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Reconstrucció</a:t>
            </a:r>
            <a:r>
              <a:rPr lang="es-ES" dirty="0"/>
              <a:t> de les </a:t>
            </a:r>
            <a:r>
              <a:rPr lang="es-ES" dirty="0" err="1"/>
              <a:t>pàgines</a:t>
            </a:r>
            <a:r>
              <a:rPr lang="es-ES" dirty="0"/>
              <a:t> HTML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BDBCC7-A665-1170-E3E3-4ADA33396647}"/>
              </a:ext>
            </a:extLst>
          </p:cNvPr>
          <p:cNvSpPr txBox="1"/>
          <p:nvPr/>
        </p:nvSpPr>
        <p:spPr>
          <a:xfrm>
            <a:off x="9516176" y="1199072"/>
            <a:ext cx="1716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Fusió</a:t>
            </a:r>
            <a:r>
              <a:rPr lang="es-ES" dirty="0"/>
              <a:t> de </a:t>
            </a:r>
            <a:r>
              <a:rPr lang="es-ES" dirty="0" err="1"/>
              <a:t>l'HTML</a:t>
            </a:r>
            <a:r>
              <a:rPr lang="es-ES" dirty="0"/>
              <a:t> </a:t>
            </a:r>
            <a:r>
              <a:rPr lang="es-ES" dirty="0" err="1"/>
              <a:t>amb</a:t>
            </a:r>
            <a:r>
              <a:rPr lang="es-ES" dirty="0"/>
              <a:t> </a:t>
            </a:r>
            <a:r>
              <a:rPr lang="es-ES" dirty="0" err="1"/>
              <a:t>els</a:t>
            </a:r>
            <a:r>
              <a:rPr lang="es-ES" dirty="0"/>
              <a:t> </a:t>
            </a:r>
            <a:r>
              <a:rPr lang="es-ES" dirty="0" err="1"/>
              <a:t>destinataris</a:t>
            </a:r>
            <a:r>
              <a:rPr lang="es-ES" dirty="0"/>
              <a:t> de </a:t>
            </a:r>
            <a:r>
              <a:rPr lang="es-ES" dirty="0" err="1"/>
              <a:t>correu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2AF1F1-5B22-6843-4025-9426012A564D}"/>
              </a:ext>
            </a:extLst>
          </p:cNvPr>
          <p:cNvSpPr txBox="1"/>
          <p:nvPr/>
        </p:nvSpPr>
        <p:spPr>
          <a:xfrm>
            <a:off x="167089" y="1563960"/>
            <a:ext cx="1971935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Recopilación de noticias, comunicados, …</a:t>
            </a:r>
          </a:p>
          <a:p>
            <a:pPr algn="ctr"/>
            <a:endParaRPr lang="es-ES" dirty="0"/>
          </a:p>
          <a:p>
            <a:pPr algn="ctr"/>
            <a:r>
              <a:rPr lang="es-ES" dirty="0"/>
              <a:t>Diseño estético y estratégico de presentación</a:t>
            </a:r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B79AEAD5-81AD-990F-B32D-FA976A8DDBA1}"/>
              </a:ext>
            </a:extLst>
          </p:cNvPr>
          <p:cNvSpPr/>
          <p:nvPr/>
        </p:nvSpPr>
        <p:spPr>
          <a:xfrm>
            <a:off x="880322" y="3921551"/>
            <a:ext cx="671961" cy="9427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568FFF1C-77E9-7A2C-2C78-CBE552B29AF2}"/>
              </a:ext>
            </a:extLst>
          </p:cNvPr>
          <p:cNvSpPr/>
          <p:nvPr/>
        </p:nvSpPr>
        <p:spPr>
          <a:xfrm>
            <a:off x="2284345" y="5519275"/>
            <a:ext cx="492433" cy="4053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4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12606F09-B816-1D41-B84D-98C9E13C3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476" y="5500302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echa: hacia arriba 17">
            <a:extLst>
              <a:ext uri="{FF2B5EF4-FFF2-40B4-BE49-F238E27FC236}">
                <a16:creationId xmlns:a16="http://schemas.microsoft.com/office/drawing/2014/main" id="{15760E4D-317C-8DB6-4FB4-0E58C74806EF}"/>
              </a:ext>
            </a:extLst>
          </p:cNvPr>
          <p:cNvSpPr/>
          <p:nvPr/>
        </p:nvSpPr>
        <p:spPr>
          <a:xfrm>
            <a:off x="3329212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Flecha: hacia arriba 18">
            <a:extLst>
              <a:ext uri="{FF2B5EF4-FFF2-40B4-BE49-F238E27FC236}">
                <a16:creationId xmlns:a16="http://schemas.microsoft.com/office/drawing/2014/main" id="{CD22566D-5D7E-5A4C-9472-916E29A84E08}"/>
              </a:ext>
            </a:extLst>
          </p:cNvPr>
          <p:cNvSpPr/>
          <p:nvPr/>
        </p:nvSpPr>
        <p:spPr>
          <a:xfrm>
            <a:off x="5689776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8C55FE61-6F5C-35B0-41BE-3BBEAA663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858" y="5532359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rchivo de extensión html - Iconos Archivos y Carpetas">
            <a:extLst>
              <a:ext uri="{FF2B5EF4-FFF2-40B4-BE49-F238E27FC236}">
                <a16:creationId xmlns:a16="http://schemas.microsoft.com/office/drawing/2014/main" id="{7F71D891-8396-A496-2DAA-D3D04AB35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888" y="3843771"/>
            <a:ext cx="585655" cy="58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Grupo 38">
            <a:extLst>
              <a:ext uri="{FF2B5EF4-FFF2-40B4-BE49-F238E27FC236}">
                <a16:creationId xmlns:a16="http://schemas.microsoft.com/office/drawing/2014/main" id="{91E0A7D3-6287-E64E-55E9-D2D4ED1F005C}"/>
              </a:ext>
            </a:extLst>
          </p:cNvPr>
          <p:cNvGrpSpPr/>
          <p:nvPr/>
        </p:nvGrpSpPr>
        <p:grpSpPr>
          <a:xfrm>
            <a:off x="4540677" y="3896392"/>
            <a:ext cx="422044" cy="313774"/>
            <a:chOff x="4658222" y="3855563"/>
            <a:chExt cx="571306" cy="313774"/>
          </a:xfrm>
        </p:grpSpPr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87EEC593-8AF4-2A6C-1BCF-8DBEEBDB08BB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0A33F5C0-38BA-FFC1-5823-3021D4B3077D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525FB9E4-4F6C-585D-603D-4501A8B45E90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0A8815E-CE10-FD5B-FB91-BD8180F5C95A}"/>
              </a:ext>
            </a:extLst>
          </p:cNvPr>
          <p:cNvSpPr txBox="1"/>
          <p:nvPr/>
        </p:nvSpPr>
        <p:spPr>
          <a:xfrm>
            <a:off x="7160038" y="2664261"/>
            <a:ext cx="16712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9"/>
              </a:rPr>
              <a:t>https://asterbcn.github.io/newsletter </a:t>
            </a:r>
            <a:endParaRPr lang="es-ES" sz="1100" dirty="0"/>
          </a:p>
        </p:txBody>
      </p:sp>
      <p:pic>
        <p:nvPicPr>
          <p:cNvPr id="1044" name="Picture 20" descr="Icono de engranaje, símbolo, diseño de icono, engranaje negro, accesorio de  hardware, línea, círculo, ángulo, ángulo, engranaje negro, circulo png |  PNGWing">
            <a:extLst>
              <a:ext uri="{FF2B5EF4-FFF2-40B4-BE49-F238E27FC236}">
                <a16:creationId xmlns:a16="http://schemas.microsoft.com/office/drawing/2014/main" id="{03463264-313B-4633-34B7-1BA975648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933" y="3785262"/>
            <a:ext cx="518063" cy="53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7786B1D5-DE2D-54C7-D376-79FDF3E89562}"/>
              </a:ext>
            </a:extLst>
          </p:cNvPr>
          <p:cNvSpPr txBox="1"/>
          <p:nvPr/>
        </p:nvSpPr>
        <p:spPr>
          <a:xfrm>
            <a:off x="7160038" y="1337571"/>
            <a:ext cx="1716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Obtenir </a:t>
            </a:r>
            <a:r>
              <a:rPr lang="fr-FR" dirty="0" err="1"/>
              <a:t>codi</a:t>
            </a:r>
            <a:r>
              <a:rPr lang="fr-FR" dirty="0"/>
              <a:t> font </a:t>
            </a:r>
            <a:r>
              <a:rPr lang="fr-FR" dirty="0" err="1"/>
              <a:t>del</a:t>
            </a:r>
            <a:r>
              <a:rPr lang="fr-FR" dirty="0"/>
              <a:t> </a:t>
            </a:r>
            <a:r>
              <a:rPr lang="fr-FR" dirty="0" err="1"/>
              <a:t>fitxer</a:t>
            </a:r>
            <a:r>
              <a:rPr lang="fr-FR" dirty="0"/>
              <a:t> HTML</a:t>
            </a:r>
            <a:endParaRPr lang="es-ES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855FFEA-D9DD-BEA8-1F71-033A4196EA52}"/>
              </a:ext>
            </a:extLst>
          </p:cNvPr>
          <p:cNvGrpSpPr/>
          <p:nvPr/>
        </p:nvGrpSpPr>
        <p:grpSpPr>
          <a:xfrm>
            <a:off x="6784004" y="3891453"/>
            <a:ext cx="422044" cy="313774"/>
            <a:chOff x="4658222" y="3855563"/>
            <a:chExt cx="571306" cy="313774"/>
          </a:xfrm>
        </p:grpSpPr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91203EEA-0ECF-0D0E-EF36-F7FF25D9E683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CE8FEB7F-3EB0-8F6B-94DE-E424A6FB185B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de flecha 43">
              <a:extLst>
                <a:ext uri="{FF2B5EF4-FFF2-40B4-BE49-F238E27FC236}">
                  <a16:creationId xmlns:a16="http://schemas.microsoft.com/office/drawing/2014/main" id="{7B15B665-BD64-D62C-E4F6-EB3C093087A8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Flecha: hacia arriba 44">
            <a:extLst>
              <a:ext uri="{FF2B5EF4-FFF2-40B4-BE49-F238E27FC236}">
                <a16:creationId xmlns:a16="http://schemas.microsoft.com/office/drawing/2014/main" id="{0B1367D3-0C15-F2CE-5CFE-4A88C2E0B8D0}"/>
              </a:ext>
            </a:extLst>
          </p:cNvPr>
          <p:cNvSpPr/>
          <p:nvPr/>
        </p:nvSpPr>
        <p:spPr>
          <a:xfrm>
            <a:off x="7859498" y="5143470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6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F34B1518-2299-6D8F-C5D9-DA2A2FC06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580" y="5544596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cono De Correo Electrónico En Estilo Plano PNG , Iconos De Correo  Electrónico, Iconos De Estilo, En Iconos PNG y Vector para Descargar Gratis  | Pngtree | Iconos de redes sociales, Iconos">
            <a:extLst>
              <a:ext uri="{FF2B5EF4-FFF2-40B4-BE49-F238E27FC236}">
                <a16:creationId xmlns:a16="http://schemas.microsoft.com/office/drawing/2014/main" id="{2C7F99A4-6676-CA18-BDA9-9AE01114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4777" y="3799729"/>
            <a:ext cx="703569" cy="703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lecha: hacia arriba 46">
            <a:extLst>
              <a:ext uri="{FF2B5EF4-FFF2-40B4-BE49-F238E27FC236}">
                <a16:creationId xmlns:a16="http://schemas.microsoft.com/office/drawing/2014/main" id="{42BC9E5D-17BF-F609-1E19-37C35693E762}"/>
              </a:ext>
            </a:extLst>
          </p:cNvPr>
          <p:cNvSpPr/>
          <p:nvPr/>
        </p:nvSpPr>
        <p:spPr>
          <a:xfrm>
            <a:off x="10282414" y="5131233"/>
            <a:ext cx="311084" cy="30613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8" name="Picture 10" descr="Programador de iconos de computadora, dtp, ángulo, mueble, computadora png  | PNGWing">
            <a:extLst>
              <a:ext uri="{FF2B5EF4-FFF2-40B4-BE49-F238E27FC236}">
                <a16:creationId xmlns:a16="http://schemas.microsoft.com/office/drawing/2014/main" id="{0BB3AD5C-DC13-1DBB-F7EF-49FE05289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3496" y="5532359"/>
            <a:ext cx="1128557" cy="78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3AEECB0A-2CD7-9014-0DA7-0647C0301593}"/>
              </a:ext>
            </a:extLst>
          </p:cNvPr>
          <p:cNvSpPr txBox="1"/>
          <p:nvPr/>
        </p:nvSpPr>
        <p:spPr>
          <a:xfrm>
            <a:off x="3144156" y="20474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9E80965-8904-FDC8-98F8-D7B43ADDB500}"/>
              </a:ext>
            </a:extLst>
          </p:cNvPr>
          <p:cNvSpPr txBox="1"/>
          <p:nvPr/>
        </p:nvSpPr>
        <p:spPr>
          <a:xfrm>
            <a:off x="5430695" y="117265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DCF386D6-66C6-20A4-AA60-9EB373D5F6A4}"/>
              </a:ext>
            </a:extLst>
          </p:cNvPr>
          <p:cNvSpPr txBox="1"/>
          <p:nvPr/>
        </p:nvSpPr>
        <p:spPr>
          <a:xfrm>
            <a:off x="7590059" y="115999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2819ECB-CC69-F74E-77B6-6E75EFC2F314}"/>
              </a:ext>
            </a:extLst>
          </p:cNvPr>
          <p:cNvSpPr txBox="1"/>
          <p:nvPr/>
        </p:nvSpPr>
        <p:spPr>
          <a:xfrm>
            <a:off x="9905584" y="121107"/>
            <a:ext cx="53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 dirty="0">
                <a:solidFill>
                  <a:srgbClr val="FF0000"/>
                </a:solidFill>
              </a:rPr>
              <a:t>4</a:t>
            </a:r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76FC1E6E-0763-587D-07D5-5AB9B8D605D9}"/>
              </a:ext>
            </a:extLst>
          </p:cNvPr>
          <p:cNvGrpSpPr/>
          <p:nvPr/>
        </p:nvGrpSpPr>
        <p:grpSpPr>
          <a:xfrm>
            <a:off x="9094132" y="3896392"/>
            <a:ext cx="422044" cy="313774"/>
            <a:chOff x="4658222" y="3855563"/>
            <a:chExt cx="571306" cy="313774"/>
          </a:xfrm>
        </p:grpSpPr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8E500672-4B6B-B5B6-6F45-1A76AEDD230D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3855563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122E415C-2942-1B91-D975-42AADC1CD7E6}"/>
                </a:ext>
              </a:extLst>
            </p:cNvPr>
            <p:cNvCxnSpPr>
              <a:cxnSpLocks/>
            </p:cNvCxnSpPr>
            <p:nvPr/>
          </p:nvCxnSpPr>
          <p:spPr>
            <a:xfrm>
              <a:off x="4667649" y="4007511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D9511AE9-4E18-8FCF-BC2F-5E6949F656DC}"/>
                </a:ext>
              </a:extLst>
            </p:cNvPr>
            <p:cNvCxnSpPr>
              <a:cxnSpLocks/>
            </p:cNvCxnSpPr>
            <p:nvPr/>
          </p:nvCxnSpPr>
          <p:spPr>
            <a:xfrm>
              <a:off x="4658222" y="4169337"/>
              <a:ext cx="5618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lipse 2">
            <a:extLst>
              <a:ext uri="{FF2B5EF4-FFF2-40B4-BE49-F238E27FC236}">
                <a16:creationId xmlns:a16="http://schemas.microsoft.com/office/drawing/2014/main" id="{EDAD65AA-352B-6DAC-8120-F61740C9DF7C}"/>
              </a:ext>
            </a:extLst>
          </p:cNvPr>
          <p:cNvSpPr/>
          <p:nvPr/>
        </p:nvSpPr>
        <p:spPr>
          <a:xfrm>
            <a:off x="4412202" y="1337570"/>
            <a:ext cx="658071" cy="7336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D6EB151-60E4-7AB9-BD36-527065442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81" y="5074473"/>
            <a:ext cx="1861651" cy="121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F367B7D4-D9B8-AAAB-42BE-76BBA8C07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881" y="3784647"/>
            <a:ext cx="1094660" cy="66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6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17B2053-5578-1669-6BBD-A2A9B9A41A2C}"/>
              </a:ext>
            </a:extLst>
          </p:cNvPr>
          <p:cNvSpPr txBox="1"/>
          <p:nvPr/>
        </p:nvSpPr>
        <p:spPr>
          <a:xfrm>
            <a:off x="879892" y="112144"/>
            <a:ext cx="927339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Entrada de recursos de Google   ‘</a:t>
            </a:r>
            <a:r>
              <a:rPr lang="es-ES" sz="1600" b="0" i="0" dirty="0">
                <a:solidFill>
                  <a:srgbClr val="1F1F1F"/>
                </a:solidFill>
                <a:effectLst/>
                <a:latin typeface="Google Sans"/>
              </a:rPr>
              <a:t>informacionsaster@gmail.com’ </a:t>
            </a:r>
            <a:r>
              <a:rPr lang="es-E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hlinkClick r:id="rId2"/>
              </a:rPr>
              <a:t>Administra recursos – Consola de Google Cloud</a:t>
            </a:r>
            <a:r>
              <a:rPr lang="es-ES" sz="1600" dirty="0"/>
              <a:t>  (Alta y baja de proyectos)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hlinkClick r:id="rId3"/>
              </a:rPr>
              <a:t>Límites de uso  |  Google Drive  |  Google </a:t>
            </a:r>
            <a:r>
              <a:rPr lang="es-ES" sz="1600" dirty="0" err="1">
                <a:hlinkClick r:id="rId3"/>
              </a:rPr>
              <a:t>for</a:t>
            </a:r>
            <a:r>
              <a:rPr lang="es-ES" sz="1600" dirty="0">
                <a:hlinkClick r:id="rId3"/>
              </a:rPr>
              <a:t> </a:t>
            </a:r>
            <a:r>
              <a:rPr lang="es-ES" sz="1600" dirty="0" err="1">
                <a:hlinkClick r:id="rId3"/>
              </a:rPr>
              <a:t>Developers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hlinkClick r:id="rId4"/>
              </a:rPr>
              <a:t>https://console.developers.google.com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r>
              <a:rPr lang="es-ES" sz="1600" dirty="0"/>
              <a:t>Recursos Drive ‘</a:t>
            </a:r>
            <a:r>
              <a:rPr lang="es-ES" sz="1600" b="0" i="0" dirty="0">
                <a:solidFill>
                  <a:srgbClr val="1F1F1F"/>
                </a:solidFill>
                <a:effectLst/>
                <a:latin typeface="Google Sans"/>
              </a:rPr>
              <a:t>informacionsaster@gmail.com’</a:t>
            </a:r>
            <a:r>
              <a:rPr lang="es-ES" sz="1600" dirty="0"/>
              <a:t>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hlinkClick r:id="rId5"/>
              </a:rPr>
              <a:t>Newsletter</a:t>
            </a:r>
            <a:r>
              <a:rPr lang="es-ES" sz="1600" dirty="0">
                <a:hlinkClick r:id="rId5"/>
              </a:rPr>
              <a:t>: Google Drive</a:t>
            </a:r>
            <a:r>
              <a:rPr lang="es-ES" sz="1600" dirty="0"/>
              <a:t>   (Directorio </a:t>
            </a:r>
            <a:r>
              <a:rPr lang="es-ES" sz="1600" dirty="0" err="1"/>
              <a:t>Newsletter</a:t>
            </a:r>
            <a:r>
              <a:rPr lang="es-E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hlinkClick r:id="rId6"/>
              </a:rPr>
              <a:t>Aster </a:t>
            </a:r>
            <a:r>
              <a:rPr lang="es-ES" sz="1600" dirty="0" err="1">
                <a:hlinkClick r:id="rId6"/>
              </a:rPr>
              <a:t>Publicacions</a:t>
            </a:r>
            <a:r>
              <a:rPr lang="es-ES" sz="1600" dirty="0">
                <a:hlinkClick r:id="rId6"/>
              </a:rPr>
              <a:t> - </a:t>
            </a:r>
            <a:r>
              <a:rPr lang="es-ES" sz="1600" dirty="0" err="1">
                <a:hlinkClick r:id="rId6"/>
              </a:rPr>
              <a:t>sheet</a:t>
            </a:r>
            <a:r>
              <a:rPr lang="es-ES" sz="1600" dirty="0">
                <a:hlinkClick r:id="rId6"/>
              </a:rPr>
              <a:t> - </a:t>
            </a:r>
            <a:r>
              <a:rPr lang="es-ES" sz="1600" dirty="0" err="1">
                <a:hlinkClick r:id="rId6"/>
              </a:rPr>
              <a:t>Fulls</a:t>
            </a:r>
            <a:r>
              <a:rPr lang="es-ES" sz="1600" dirty="0">
                <a:hlinkClick r:id="rId6"/>
              </a:rPr>
              <a:t> de </a:t>
            </a:r>
            <a:r>
              <a:rPr lang="es-ES" sz="1600" dirty="0" err="1">
                <a:hlinkClick r:id="rId6"/>
              </a:rPr>
              <a:t>càlcul</a:t>
            </a:r>
            <a:r>
              <a:rPr lang="es-ES" sz="1600" dirty="0">
                <a:hlinkClick r:id="rId6"/>
              </a:rPr>
              <a:t> de Google</a:t>
            </a:r>
            <a:r>
              <a:rPr lang="es-ES" sz="1600" dirty="0"/>
              <a:t>(hoja de cálculo </a:t>
            </a:r>
            <a:r>
              <a:rPr lang="es-ES" sz="1600" dirty="0" err="1"/>
              <a:t>Newsletter</a:t>
            </a:r>
            <a:r>
              <a:rPr lang="es-ES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r>
              <a:rPr lang="es-ES" sz="1600" dirty="0" err="1"/>
              <a:t>Github</a:t>
            </a:r>
            <a:r>
              <a:rPr lang="es-ES" sz="1600" dirty="0"/>
              <a:t> – </a:t>
            </a:r>
            <a:r>
              <a:rPr lang="es-ES" sz="1600" dirty="0" err="1"/>
              <a:t>Reconstrucció</a:t>
            </a:r>
            <a:r>
              <a:rPr lang="es-ES" sz="1600" dirty="0"/>
              <a:t> de </a:t>
            </a:r>
            <a:r>
              <a:rPr lang="es-ES" sz="1600" dirty="0" err="1"/>
              <a:t>pàgines</a:t>
            </a:r>
            <a:r>
              <a:rPr lang="es-ES" sz="1600" dirty="0"/>
              <a:t>  ‘despatx4@aster.cat’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hlinkClick r:id="rId7"/>
              </a:rPr>
              <a:t>Workflow</a:t>
            </a:r>
            <a:r>
              <a:rPr lang="es-ES" sz="1600" dirty="0">
                <a:hlinkClick r:id="rId7"/>
              </a:rPr>
              <a:t> </a:t>
            </a:r>
            <a:r>
              <a:rPr lang="es-ES" sz="1600" dirty="0" err="1">
                <a:hlinkClick r:id="rId7"/>
              </a:rPr>
              <a:t>runs</a:t>
            </a:r>
            <a:r>
              <a:rPr lang="es-ES" sz="1600" dirty="0">
                <a:hlinkClick r:id="rId7"/>
              </a:rPr>
              <a:t> · </a:t>
            </a:r>
            <a:r>
              <a:rPr lang="es-ES" sz="1600" dirty="0" err="1">
                <a:hlinkClick r:id="rId7"/>
              </a:rPr>
              <a:t>AsterBCN</a:t>
            </a:r>
            <a:r>
              <a:rPr lang="es-ES" sz="1600" dirty="0">
                <a:hlinkClick r:id="rId7"/>
              </a:rPr>
              <a:t>/</a:t>
            </a:r>
            <a:r>
              <a:rPr lang="es-ES" sz="1600" dirty="0" err="1">
                <a:hlinkClick r:id="rId7"/>
              </a:rPr>
              <a:t>newsletter</a:t>
            </a:r>
            <a:r>
              <a:rPr lang="es-ES" sz="1600" dirty="0">
                <a:hlinkClick r:id="rId7"/>
              </a:rPr>
              <a:t> (github.com)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1">
                    <a:lumMod val="85000"/>
                  </a:schemeClr>
                </a:solidFill>
              </a:rPr>
              <a:t>PROVES  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 runs ·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CaptWhite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/my-newsletter (github.com)</a:t>
            </a:r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r>
              <a:rPr lang="es-ES" sz="1600" b="0" i="0" dirty="0" err="1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Accés</a:t>
            </a:r>
            <a:r>
              <a:rPr lang="es-ES" sz="1600" b="0" i="0" dirty="0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1600" b="0" i="0" dirty="0" err="1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aplicatiu</a:t>
            </a:r>
            <a:r>
              <a:rPr lang="es-ES" sz="1600" b="0" i="0" dirty="0">
                <a:solidFill>
                  <a:srgbClr val="3C4043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1600" dirty="0" err="1"/>
              <a:t>Newsletter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 </a:t>
            </a:r>
            <a:r>
              <a:rPr lang="es-ES" sz="1600" dirty="0" err="1"/>
              <a:t>Últim</a:t>
            </a:r>
            <a:r>
              <a:rPr lang="es-ES" sz="1600" dirty="0"/>
              <a:t>:    </a:t>
            </a:r>
            <a:r>
              <a:rPr lang="es-ES" sz="1600" dirty="0">
                <a:hlinkClick r:id="rId9"/>
              </a:rPr>
              <a:t>ASTER - Agrupació Astronòmica de Barcelona - </a:t>
            </a:r>
            <a:r>
              <a:rPr lang="es-ES" sz="1600" dirty="0" err="1">
                <a:hlinkClick r:id="rId9"/>
              </a:rPr>
              <a:t>Newsletter</a:t>
            </a:r>
            <a:r>
              <a:rPr lang="es-ES" sz="1600" dirty="0">
                <a:hlinkClick r:id="rId9"/>
              </a:rPr>
              <a:t> (asterbcn.github.io)</a:t>
            </a:r>
            <a:r>
              <a:rPr lang="es-ES" sz="16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Catàleg</a:t>
            </a:r>
            <a:r>
              <a:rPr lang="es-ES" sz="1600" dirty="0"/>
              <a:t>: </a:t>
            </a:r>
            <a:r>
              <a:rPr lang="es-ES" sz="1600" dirty="0">
                <a:hlinkClick r:id="rId10"/>
              </a:rPr>
              <a:t>ASTER - Agrupació Astronòmica de Barcelona - </a:t>
            </a:r>
            <a:r>
              <a:rPr lang="es-ES" sz="1600" dirty="0" err="1">
                <a:hlinkClick r:id="rId10"/>
              </a:rPr>
              <a:t>Calàleg</a:t>
            </a:r>
            <a:r>
              <a:rPr lang="es-ES" sz="1600" dirty="0">
                <a:hlinkClick r:id="rId10"/>
              </a:rPr>
              <a:t> (asterbcn.github.io)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Item</a:t>
            </a:r>
            <a:r>
              <a:rPr lang="es-ES" sz="1600" dirty="0"/>
              <a:t>:      </a:t>
            </a:r>
            <a:r>
              <a:rPr lang="es-ES" sz="1600" dirty="0">
                <a:hlinkClick r:id="rId11"/>
              </a:rPr>
              <a:t>ASTER - Agrupació Astronòmica de Barcelona - </a:t>
            </a:r>
            <a:r>
              <a:rPr lang="es-ES" sz="1600" dirty="0" err="1">
                <a:hlinkClick r:id="rId11"/>
              </a:rPr>
              <a:t>item</a:t>
            </a:r>
            <a:r>
              <a:rPr lang="es-ES" sz="1600" dirty="0">
                <a:hlinkClick r:id="rId11"/>
              </a:rPr>
              <a:t> (asterbcn.github.io)</a:t>
            </a:r>
            <a:endParaRPr lang="es-ES" sz="1600" dirty="0"/>
          </a:p>
          <a:p>
            <a:endParaRPr lang="es-ES" sz="1600" dirty="0"/>
          </a:p>
          <a:p>
            <a:r>
              <a:rPr lang="es-ES" sz="1600" b="0" i="0" dirty="0" err="1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</a:rPr>
              <a:t>Accés</a:t>
            </a:r>
            <a:r>
              <a:rPr lang="es-E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1600" b="0" i="0" dirty="0" err="1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</a:rPr>
              <a:t>aplicatiu</a:t>
            </a:r>
            <a:r>
              <a:rPr lang="es-ES" sz="1600" b="0" i="0" dirty="0">
                <a:solidFill>
                  <a:schemeClr val="bg1">
                    <a:lumMod val="85000"/>
                  </a:schemeClr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</a:rPr>
              <a:t>PROVES </a:t>
            </a:r>
            <a:r>
              <a:rPr lang="es-ES" sz="1600" dirty="0" err="1">
                <a:solidFill>
                  <a:schemeClr val="bg1">
                    <a:lumMod val="85000"/>
                  </a:schemeClr>
                </a:solidFill>
              </a:rPr>
              <a:t>Newsletter</a:t>
            </a:r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bg1">
                    <a:lumMod val="85000"/>
                  </a:schemeClr>
                </a:solidFill>
              </a:rPr>
              <a:t>Últim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</a:rPr>
              <a:t>:    PROVES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Agrupació Astronòmica de Barcelona - </a:t>
            </a:r>
            <a:r>
              <a:rPr lang="es-ES" sz="1600" dirty="0" err="1">
                <a:solidFill>
                  <a:schemeClr val="bg1">
                    <a:lumMod val="8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Newsletter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(captwhite.github.io)</a:t>
            </a:r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bg1">
                    <a:lumMod val="85000"/>
                  </a:schemeClr>
                </a:solidFill>
              </a:rPr>
              <a:t>Catàleg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</a:rPr>
              <a:t>: PROVES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Agrupació Astronòmica de Barcelona - </a:t>
            </a:r>
            <a:r>
              <a:rPr lang="es-ES" sz="1600" dirty="0" err="1">
                <a:solidFill>
                  <a:schemeClr val="bg1">
                    <a:lumMod val="8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Catàleg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(captwhite.github.io)</a:t>
            </a:r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bg1">
                    <a:lumMod val="85000"/>
                  </a:schemeClr>
                </a:solidFill>
              </a:rPr>
              <a:t>Item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</a:rPr>
              <a:t>:      PROVES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Agrupació Astronòmica de Barcelona - </a:t>
            </a:r>
            <a:r>
              <a:rPr lang="es-ES" sz="1600" dirty="0" err="1">
                <a:solidFill>
                  <a:schemeClr val="bg1">
                    <a:lumMod val="85000"/>
                  </a:schemeClr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Item</a:t>
            </a:r>
            <a:r>
              <a:rPr lang="es-ES" sz="1600" dirty="0">
                <a:solidFill>
                  <a:schemeClr val="bg1">
                    <a:lumMod val="85000"/>
                  </a:schemeClr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(captwhite.github.io)</a:t>
            </a:r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  <a:p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pt-BR" sz="1600" dirty="0" err="1"/>
              <a:t>Enviament</a:t>
            </a:r>
            <a:r>
              <a:rPr lang="pt-BR" sz="1600" dirty="0"/>
              <a:t> de correu </a:t>
            </a:r>
            <a:r>
              <a:rPr lang="es-ES" sz="1600" dirty="0"/>
              <a:t>‘despatx4@aster.cat  y  despatx5@aster.cat’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hlinkClick r:id="rId15"/>
              </a:rPr>
              <a:t>Templates</a:t>
            </a:r>
            <a:r>
              <a:rPr lang="es-ES" sz="1600" dirty="0">
                <a:hlinkClick r:id="rId15"/>
              </a:rPr>
              <a:t> | </a:t>
            </a:r>
            <a:r>
              <a:rPr lang="es-ES" sz="1600" dirty="0" err="1">
                <a:hlinkClick r:id="rId15"/>
              </a:rPr>
              <a:t>Mailchimp</a:t>
            </a:r>
            <a:endParaRPr lang="es-ES" sz="1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05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503B457-FD28-F54B-4A79-DA01329C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60" y="3063562"/>
            <a:ext cx="7141983" cy="22830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E9289A-0F7E-9253-B655-A7ECD79E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974" y="0"/>
            <a:ext cx="4478294" cy="6795163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AB850CD-2B22-2723-C0E5-FC3E2C22E55E}"/>
              </a:ext>
            </a:extLst>
          </p:cNvPr>
          <p:cNvCxnSpPr>
            <a:cxnSpLocks/>
          </p:cNvCxnSpPr>
          <p:nvPr/>
        </p:nvCxnSpPr>
        <p:spPr>
          <a:xfrm flipV="1">
            <a:off x="1086928" y="1781666"/>
            <a:ext cx="8792363" cy="2462530"/>
          </a:xfrm>
          <a:prstGeom prst="straightConnector1">
            <a:avLst/>
          </a:prstGeom>
          <a:ln w="254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16A32771-EEB1-A207-6204-DD7179C88C15}"/>
              </a:ext>
            </a:extLst>
          </p:cNvPr>
          <p:cNvCxnSpPr>
            <a:cxnSpLocks/>
          </p:cNvCxnSpPr>
          <p:nvPr/>
        </p:nvCxnSpPr>
        <p:spPr>
          <a:xfrm flipV="1">
            <a:off x="1376871" y="1668544"/>
            <a:ext cx="9152869" cy="356769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B0C7B527-8262-2748-D487-FCAF4B2ADDDA}"/>
              </a:ext>
            </a:extLst>
          </p:cNvPr>
          <p:cNvCxnSpPr>
            <a:cxnSpLocks/>
          </p:cNvCxnSpPr>
          <p:nvPr/>
        </p:nvCxnSpPr>
        <p:spPr>
          <a:xfrm flipV="1">
            <a:off x="3157268" y="2130458"/>
            <a:ext cx="6627755" cy="2240186"/>
          </a:xfrm>
          <a:prstGeom prst="straightConnector1">
            <a:avLst/>
          </a:prstGeom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98A1013-2E3A-AD20-F8E5-CB4B085DD4AA}"/>
              </a:ext>
            </a:extLst>
          </p:cNvPr>
          <p:cNvCxnSpPr>
            <a:cxnSpLocks/>
          </p:cNvCxnSpPr>
          <p:nvPr/>
        </p:nvCxnSpPr>
        <p:spPr>
          <a:xfrm>
            <a:off x="3338423" y="4655930"/>
            <a:ext cx="6173222" cy="208301"/>
          </a:xfrm>
          <a:prstGeom prst="straightConnector1">
            <a:avLst/>
          </a:prstGeom>
          <a:ln w="254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09F6D2A-A08B-1434-EA8B-2B120258448A}"/>
              </a:ext>
            </a:extLst>
          </p:cNvPr>
          <p:cNvCxnSpPr>
            <a:cxnSpLocks/>
          </p:cNvCxnSpPr>
          <p:nvPr/>
        </p:nvCxnSpPr>
        <p:spPr>
          <a:xfrm>
            <a:off x="5204886" y="4630275"/>
            <a:ext cx="3354652" cy="541378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182AC6C-B389-99F8-57E3-D04F82E77DA7}"/>
              </a:ext>
            </a:extLst>
          </p:cNvPr>
          <p:cNvCxnSpPr>
            <a:cxnSpLocks/>
          </p:cNvCxnSpPr>
          <p:nvPr/>
        </p:nvCxnSpPr>
        <p:spPr>
          <a:xfrm flipV="1">
            <a:off x="5204886" y="4380686"/>
            <a:ext cx="3947740" cy="148796"/>
          </a:xfrm>
          <a:prstGeom prst="straightConnector1">
            <a:avLst/>
          </a:prstGeom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12CE444-1B01-BD37-3D66-0894552FC148}"/>
              </a:ext>
            </a:extLst>
          </p:cNvPr>
          <p:cNvCxnSpPr>
            <a:cxnSpLocks/>
          </p:cNvCxnSpPr>
          <p:nvPr/>
        </p:nvCxnSpPr>
        <p:spPr>
          <a:xfrm>
            <a:off x="6235833" y="4674210"/>
            <a:ext cx="2283021" cy="957673"/>
          </a:xfrm>
          <a:prstGeom prst="straightConnector1">
            <a:avLst/>
          </a:prstGeom>
          <a:ln w="254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A1A7077-DB4A-C94E-FF94-25B742EC8FBA}"/>
              </a:ext>
            </a:extLst>
          </p:cNvPr>
          <p:cNvSpPr txBox="1"/>
          <p:nvPr/>
        </p:nvSpPr>
        <p:spPr>
          <a:xfrm>
            <a:off x="183364" y="30605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8565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2 – Regenerar las páginas web</a:t>
            </a:r>
          </a:p>
        </p:txBody>
      </p:sp>
    </p:spTree>
    <p:extLst>
      <p:ext uri="{BB962C8B-B14F-4D97-AF65-F5344CB8AC3E}">
        <p14:creationId xmlns:p14="http://schemas.microsoft.com/office/powerpoint/2010/main" val="347202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hlinkClick r:id="rId2"/>
            <a:extLst>
              <a:ext uri="{FF2B5EF4-FFF2-40B4-BE49-F238E27FC236}">
                <a16:creationId xmlns:a16="http://schemas.microsoft.com/office/drawing/2014/main" id="{6B21F938-9186-7AED-5449-B4A9E66BD36F}"/>
              </a:ext>
            </a:extLst>
          </p:cNvPr>
          <p:cNvSpPr txBox="1"/>
          <p:nvPr/>
        </p:nvSpPr>
        <p:spPr>
          <a:xfrm rot="16200000">
            <a:off x="-713803" y="1452739"/>
            <a:ext cx="2916004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softEdge rad="31750"/>
          </a:effectLst>
        </p:spPr>
        <p:txBody>
          <a:bodyPr wrap="square">
            <a:spAutoFit/>
          </a:bodyPr>
          <a:lstStyle>
            <a:defPPr>
              <a:defRPr lang="es-ES"/>
            </a:defPPr>
            <a:lvl1pPr>
              <a:defRPr sz="1000">
                <a:solidFill>
                  <a:srgbClr val="0070C0"/>
                </a:solidFill>
              </a:defRPr>
            </a:lvl1pPr>
          </a:lstStyle>
          <a:p>
            <a:pPr algn="ctr"/>
            <a:r>
              <a:rPr lang="es-ES" dirty="0">
                <a:hlinkClick r:id="rId3"/>
              </a:rPr>
              <a:t>https://github.com/AsterBCN/newsletter/actions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ABCE2F-C8ED-8E25-88DE-40401394E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568" y="135844"/>
            <a:ext cx="3666918" cy="2638628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C93D9B34-3530-0DF8-C56D-A3EEB0B083F8}"/>
              </a:ext>
            </a:extLst>
          </p:cNvPr>
          <p:cNvCxnSpPr/>
          <p:nvPr/>
        </p:nvCxnSpPr>
        <p:spPr>
          <a:xfrm flipH="1">
            <a:off x="2931790" y="1706252"/>
            <a:ext cx="518474" cy="48076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D61EF1A5-E891-E2FF-687B-BFA4EF0BB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614" y="137417"/>
            <a:ext cx="3998855" cy="2638628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B54F26D-0E30-FF7C-B27D-3EB6FC61BC0B}"/>
              </a:ext>
            </a:extLst>
          </p:cNvPr>
          <p:cNvCxnSpPr/>
          <p:nvPr/>
        </p:nvCxnSpPr>
        <p:spPr>
          <a:xfrm flipH="1">
            <a:off x="10075319" y="538900"/>
            <a:ext cx="518474" cy="48076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9E372567-E826-FAB1-F50D-54B5F6082A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877" y="2922001"/>
            <a:ext cx="2370819" cy="81907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43EE056-315C-A257-A88B-19EEEDB36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614" y="3949948"/>
            <a:ext cx="4290995" cy="264494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CDB78A6-187F-86F9-FE7E-645819D79D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048" y="3616871"/>
            <a:ext cx="3666918" cy="2644942"/>
          </a:xfrm>
          <a:prstGeom prst="rect">
            <a:avLst/>
          </a:prstGeom>
        </p:spPr>
      </p:pic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D133209A-F9A9-72E1-DF66-B3204AE055AC}"/>
              </a:ext>
            </a:extLst>
          </p:cNvPr>
          <p:cNvSpPr/>
          <p:nvPr/>
        </p:nvSpPr>
        <p:spPr>
          <a:xfrm>
            <a:off x="5621697" y="1455158"/>
            <a:ext cx="470777" cy="31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9E5AD6E-45D9-4C1C-C3F2-D0A0FAFE7EF4}"/>
              </a:ext>
            </a:extLst>
          </p:cNvPr>
          <p:cNvSpPr/>
          <p:nvPr/>
        </p:nvSpPr>
        <p:spPr>
          <a:xfrm>
            <a:off x="867310" y="1455158"/>
            <a:ext cx="470777" cy="31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216DCAAC-2C3C-0100-3F1A-84DC9576ACC3}"/>
              </a:ext>
            </a:extLst>
          </p:cNvPr>
          <p:cNvSpPr/>
          <p:nvPr/>
        </p:nvSpPr>
        <p:spPr>
          <a:xfrm rot="5400000">
            <a:off x="8122897" y="2642628"/>
            <a:ext cx="470777" cy="31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0270ECA-DF36-CE84-D362-9395FB8EF64A}"/>
              </a:ext>
            </a:extLst>
          </p:cNvPr>
          <p:cNvCxnSpPr/>
          <p:nvPr/>
        </p:nvCxnSpPr>
        <p:spPr>
          <a:xfrm flipH="1">
            <a:off x="9388154" y="3122613"/>
            <a:ext cx="518474" cy="48076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E62ABC6F-3EAE-B618-BEA5-614F84D5A035}"/>
              </a:ext>
            </a:extLst>
          </p:cNvPr>
          <p:cNvSpPr/>
          <p:nvPr/>
        </p:nvSpPr>
        <p:spPr>
          <a:xfrm rot="5400000">
            <a:off x="8122897" y="3693182"/>
            <a:ext cx="470777" cy="31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A3626D5F-F934-DD6B-5290-D2E925BA4676}"/>
              </a:ext>
            </a:extLst>
          </p:cNvPr>
          <p:cNvSpPr/>
          <p:nvPr/>
        </p:nvSpPr>
        <p:spPr>
          <a:xfrm rot="10800000">
            <a:off x="5506162" y="5107027"/>
            <a:ext cx="470777" cy="31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hlinkClick r:id="rId9"/>
            <a:extLst>
              <a:ext uri="{FF2B5EF4-FFF2-40B4-BE49-F238E27FC236}">
                <a16:creationId xmlns:a16="http://schemas.microsoft.com/office/drawing/2014/main" id="{2D6F2F82-8BA5-1799-8040-205FD7FC5F91}"/>
              </a:ext>
            </a:extLst>
          </p:cNvPr>
          <p:cNvSpPr txBox="1"/>
          <p:nvPr/>
        </p:nvSpPr>
        <p:spPr>
          <a:xfrm>
            <a:off x="3095899" y="6471778"/>
            <a:ext cx="2321987" cy="2462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softEdge rad="31750"/>
          </a:effectLst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0070C0"/>
                </a:solidFill>
                <a:hlinkClick r:id="rId10"/>
              </a:rPr>
              <a:t>https://asterbcn.github.io/newsletter</a:t>
            </a:r>
            <a:endParaRPr lang="es-ES" sz="1000" dirty="0">
              <a:solidFill>
                <a:srgbClr val="0070C0"/>
              </a:solidFill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2328114-7987-DC59-0EF5-3D8C76E8D74C}"/>
              </a:ext>
            </a:extLst>
          </p:cNvPr>
          <p:cNvSpPr/>
          <p:nvPr/>
        </p:nvSpPr>
        <p:spPr>
          <a:xfrm rot="5400000">
            <a:off x="4433077" y="6077312"/>
            <a:ext cx="470777" cy="318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093881A-99D9-AA86-9DDA-0774EBA3C0C5}"/>
              </a:ext>
            </a:extLst>
          </p:cNvPr>
          <p:cNvSpPr txBox="1"/>
          <p:nvPr/>
        </p:nvSpPr>
        <p:spPr>
          <a:xfrm>
            <a:off x="-57600" y="3362996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846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0E3FBC-6953-7DFB-35F8-DA7EA9480373}"/>
              </a:ext>
            </a:extLst>
          </p:cNvPr>
          <p:cNvSpPr txBox="1"/>
          <p:nvPr/>
        </p:nvSpPr>
        <p:spPr>
          <a:xfrm>
            <a:off x="1380340" y="266117"/>
            <a:ext cx="16712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2"/>
              </a:rPr>
              <a:t>https://asterbcn.github.io/newsletter </a:t>
            </a:r>
            <a:endParaRPr lang="es-ES" sz="11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0F2696-7DBE-9520-24B2-7BDB25E43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44" y="802257"/>
            <a:ext cx="3496377" cy="53052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821166C-5FCB-250C-8D96-D8A0E3B7C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779" y="802257"/>
            <a:ext cx="3758160" cy="414930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168A30-C033-60B5-4B1E-7F72E4EA9B4D}"/>
              </a:ext>
            </a:extLst>
          </p:cNvPr>
          <p:cNvSpPr txBox="1"/>
          <p:nvPr/>
        </p:nvSpPr>
        <p:spPr>
          <a:xfrm>
            <a:off x="5000559" y="266117"/>
            <a:ext cx="16712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5"/>
              </a:rPr>
              <a:t>https://asterbcn.github.io/newsletter/catalog</a:t>
            </a:r>
            <a:r>
              <a:rPr lang="es-ES" sz="1100" dirty="0">
                <a:hlinkClick r:id="rId2"/>
              </a:rPr>
              <a:t> </a:t>
            </a:r>
            <a:endParaRPr lang="es-ES" sz="1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9C066C-6FB4-FD77-7B2D-0FF0462140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928" y="802257"/>
            <a:ext cx="3286664" cy="496585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2D215B2-BA9B-4504-90DA-16F037E4EF9A}"/>
              </a:ext>
            </a:extLst>
          </p:cNvPr>
          <p:cNvSpPr txBox="1"/>
          <p:nvPr/>
        </p:nvSpPr>
        <p:spPr>
          <a:xfrm>
            <a:off x="8752612" y="266117"/>
            <a:ext cx="16712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7"/>
              </a:rPr>
              <a:t>https://asterbcn.github.io/newsletter/item/6 </a:t>
            </a:r>
            <a:endParaRPr lang="es-ES" sz="1100" dirty="0"/>
          </a:p>
        </p:txBody>
      </p:sp>
      <p:sp>
        <p:nvSpPr>
          <p:cNvPr id="13" name="Flecha: doblada 12">
            <a:extLst>
              <a:ext uri="{FF2B5EF4-FFF2-40B4-BE49-F238E27FC236}">
                <a16:creationId xmlns:a16="http://schemas.microsoft.com/office/drawing/2014/main" id="{C8DD1457-CDA9-6487-F254-E951874A7DC7}"/>
              </a:ext>
            </a:extLst>
          </p:cNvPr>
          <p:cNvSpPr/>
          <p:nvPr/>
        </p:nvSpPr>
        <p:spPr>
          <a:xfrm flipV="1">
            <a:off x="5000559" y="4468483"/>
            <a:ext cx="3047886" cy="911822"/>
          </a:xfrm>
          <a:prstGeom prst="bentArrow">
            <a:avLst>
              <a:gd name="adj1" fmla="val 25000"/>
              <a:gd name="adj2" fmla="val 29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C1DCFA8-824F-6918-C092-5DFF5CE6C8FE}"/>
              </a:ext>
            </a:extLst>
          </p:cNvPr>
          <p:cNvSpPr txBox="1"/>
          <p:nvPr/>
        </p:nvSpPr>
        <p:spPr>
          <a:xfrm>
            <a:off x="-43829" y="2131441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7378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3 – Obtener código fuente de la página web</a:t>
            </a:r>
          </a:p>
        </p:txBody>
      </p:sp>
    </p:spTree>
    <p:extLst>
      <p:ext uri="{BB962C8B-B14F-4D97-AF65-F5344CB8AC3E}">
        <p14:creationId xmlns:p14="http://schemas.microsoft.com/office/powerpoint/2010/main" val="236287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2E9CB1-DE31-06D8-7987-AA7989E47342}"/>
              </a:ext>
            </a:extLst>
          </p:cNvPr>
          <p:cNvSpPr txBox="1"/>
          <p:nvPr/>
        </p:nvSpPr>
        <p:spPr>
          <a:xfrm>
            <a:off x="2544906" y="412766"/>
            <a:ext cx="16712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hlinkClick r:id="rId2"/>
              </a:rPr>
              <a:t>https://asterbcn.github.io/newsletter </a:t>
            </a:r>
            <a:endParaRPr lang="es-ES" sz="11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C2D600-0C4D-F648-32C7-D0AA97780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910" y="948906"/>
            <a:ext cx="3496377" cy="53052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CD1EC23-88E2-CE27-35CE-5A2C879BCBD2}"/>
              </a:ext>
            </a:extLst>
          </p:cNvPr>
          <p:cNvSpPr txBox="1"/>
          <p:nvPr/>
        </p:nvSpPr>
        <p:spPr>
          <a:xfrm>
            <a:off x="-43829" y="2131441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AB9F49-329E-5F54-D41E-AC60E3D75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642" y="1927378"/>
            <a:ext cx="4561529" cy="3003243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4E174747-5A5A-8EC4-C9F2-841F47E5E481}"/>
              </a:ext>
            </a:extLst>
          </p:cNvPr>
          <p:cNvSpPr/>
          <p:nvPr/>
        </p:nvSpPr>
        <p:spPr>
          <a:xfrm>
            <a:off x="5184475" y="3278038"/>
            <a:ext cx="1492370" cy="7332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FE9F82-9E80-F78D-9609-D920C8300DC0}"/>
              </a:ext>
            </a:extLst>
          </p:cNvPr>
          <p:cNvSpPr txBox="1"/>
          <p:nvPr/>
        </p:nvSpPr>
        <p:spPr>
          <a:xfrm>
            <a:off x="4817287" y="2717320"/>
            <a:ext cx="1954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Ver código fuente de página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70D734-AFD7-7D01-35C7-9943560EEC5B}"/>
              </a:ext>
            </a:extLst>
          </p:cNvPr>
          <p:cNvSpPr txBox="1"/>
          <p:nvPr/>
        </p:nvSpPr>
        <p:spPr>
          <a:xfrm>
            <a:off x="8262181" y="3870383"/>
            <a:ext cx="1954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Seleccionar todo y Cortar en el portapapeles</a:t>
            </a:r>
          </a:p>
        </p:txBody>
      </p:sp>
    </p:spTree>
    <p:extLst>
      <p:ext uri="{BB962C8B-B14F-4D97-AF65-F5344CB8AC3E}">
        <p14:creationId xmlns:p14="http://schemas.microsoft.com/office/powerpoint/2010/main" val="1736565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4 – Envío de emails</a:t>
            </a:r>
          </a:p>
        </p:txBody>
      </p:sp>
    </p:spTree>
    <p:extLst>
      <p:ext uri="{BB962C8B-B14F-4D97-AF65-F5344CB8AC3E}">
        <p14:creationId xmlns:p14="http://schemas.microsoft.com/office/powerpoint/2010/main" val="102942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F5DC5BCE-06C6-7000-45A4-177B30A2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751" y="1689904"/>
            <a:ext cx="3704099" cy="2391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D01631-85D9-4001-063E-F06C2676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9" y="558505"/>
            <a:ext cx="3504383" cy="946310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147AA2E-AD8A-A855-7ED0-BD99941579E8}"/>
              </a:ext>
            </a:extLst>
          </p:cNvPr>
          <p:cNvCxnSpPr/>
          <p:nvPr/>
        </p:nvCxnSpPr>
        <p:spPr>
          <a:xfrm flipH="1">
            <a:off x="1666770" y="3193329"/>
            <a:ext cx="518475" cy="4713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DEF0B892-81ED-7295-6DDC-91F7F2DD7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79" y="1689904"/>
            <a:ext cx="2784454" cy="2458228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13207E2-0476-573C-4B9B-13B6204DECD0}"/>
              </a:ext>
            </a:extLst>
          </p:cNvPr>
          <p:cNvCxnSpPr>
            <a:cxnSpLocks/>
          </p:cNvCxnSpPr>
          <p:nvPr/>
        </p:nvCxnSpPr>
        <p:spPr>
          <a:xfrm flipH="1">
            <a:off x="5184126" y="3354371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11965E1C-2F1E-CBB9-8B17-BA66B03F9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82" y="282805"/>
            <a:ext cx="1285808" cy="1053579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EFBA119-8148-E8F3-F142-F68FAE0AD68C}"/>
              </a:ext>
            </a:extLst>
          </p:cNvPr>
          <p:cNvCxnSpPr/>
          <p:nvPr/>
        </p:nvCxnSpPr>
        <p:spPr>
          <a:xfrm flipH="1">
            <a:off x="3161873" y="2266752"/>
            <a:ext cx="518475" cy="4713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351A7C76-41F1-3992-3209-C0F6293781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994" y="1721366"/>
            <a:ext cx="3518708" cy="2342105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FFC59E1-5FD1-1815-5B81-8DF577865F07}"/>
              </a:ext>
            </a:extLst>
          </p:cNvPr>
          <p:cNvCxnSpPr>
            <a:cxnSpLocks/>
          </p:cNvCxnSpPr>
          <p:nvPr/>
        </p:nvCxnSpPr>
        <p:spPr>
          <a:xfrm flipH="1">
            <a:off x="8643982" y="925924"/>
            <a:ext cx="579738" cy="195993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A2091536-85AC-65B1-94CB-5EC3A47B3E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280" y="4349867"/>
            <a:ext cx="2784454" cy="2197783"/>
          </a:xfrm>
          <a:prstGeom prst="rect">
            <a:avLst/>
          </a:prstGeom>
        </p:spPr>
      </p:pic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A5FCABB-0266-A090-FF6B-61CBBC9085E9}"/>
              </a:ext>
            </a:extLst>
          </p:cNvPr>
          <p:cNvCxnSpPr/>
          <p:nvPr/>
        </p:nvCxnSpPr>
        <p:spPr>
          <a:xfrm flipH="1">
            <a:off x="3004266" y="4247007"/>
            <a:ext cx="518475" cy="4713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Imagen 28">
            <a:extLst>
              <a:ext uri="{FF2B5EF4-FFF2-40B4-BE49-F238E27FC236}">
                <a16:creationId xmlns:a16="http://schemas.microsoft.com/office/drawing/2014/main" id="{986F320B-E76A-ADB7-64C6-B1276D29C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8190" y="4329034"/>
            <a:ext cx="2668024" cy="2223354"/>
          </a:xfrm>
          <a:prstGeom prst="rect">
            <a:avLst/>
          </a:prstGeo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A3130B0A-B418-59F7-A255-F007C8A85E74}"/>
              </a:ext>
            </a:extLst>
          </p:cNvPr>
          <p:cNvCxnSpPr>
            <a:cxnSpLocks/>
          </p:cNvCxnSpPr>
          <p:nvPr/>
        </p:nvCxnSpPr>
        <p:spPr>
          <a:xfrm flipH="1">
            <a:off x="5940149" y="5863472"/>
            <a:ext cx="311701" cy="3102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384BB7A8-B3E2-A18F-57D4-3D1DCB5CD7D5}"/>
              </a:ext>
            </a:extLst>
          </p:cNvPr>
          <p:cNvSpPr txBox="1"/>
          <p:nvPr/>
        </p:nvSpPr>
        <p:spPr>
          <a:xfrm>
            <a:off x="-26696" y="2502422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782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444CD85-E2A9-C74C-A26C-E26E8E2B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19" y="1318950"/>
            <a:ext cx="5241627" cy="374875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2D4AE25-F226-A5DE-5C1E-801A23B07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531" y="1213746"/>
            <a:ext cx="4380350" cy="41665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095136D3-5D37-6DFD-DFDE-F014DB9847B2}"/>
              </a:ext>
            </a:extLst>
          </p:cNvPr>
          <p:cNvSpPr/>
          <p:nvPr/>
        </p:nvSpPr>
        <p:spPr>
          <a:xfrm rot="20692735">
            <a:off x="5247870" y="2457502"/>
            <a:ext cx="2398870" cy="10180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33B811-065C-1A24-E5FA-1F4532966475}"/>
              </a:ext>
            </a:extLst>
          </p:cNvPr>
          <p:cNvSpPr txBox="1"/>
          <p:nvPr/>
        </p:nvSpPr>
        <p:spPr>
          <a:xfrm>
            <a:off x="5470082" y="1765212"/>
            <a:ext cx="1954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Cortar y pegar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857A7B-78E7-057C-CA1A-41E7DCC30DEE}"/>
              </a:ext>
            </a:extLst>
          </p:cNvPr>
          <p:cNvSpPr txBox="1"/>
          <p:nvPr/>
        </p:nvSpPr>
        <p:spPr>
          <a:xfrm>
            <a:off x="201268" y="4516423"/>
            <a:ext cx="110866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6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445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5 – Drive </a:t>
            </a:r>
          </a:p>
          <a:p>
            <a:r>
              <a:rPr lang="es-ES" dirty="0"/>
              <a:t>(Repositorio documentos)</a:t>
            </a:r>
          </a:p>
        </p:txBody>
      </p:sp>
    </p:spTree>
    <p:extLst>
      <p:ext uri="{BB962C8B-B14F-4D97-AF65-F5344CB8AC3E}">
        <p14:creationId xmlns:p14="http://schemas.microsoft.com/office/powerpoint/2010/main" val="1998236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53DD2B7-7A90-1DD5-AE66-05162B5E14BC}"/>
              </a:ext>
            </a:extLst>
          </p:cNvPr>
          <p:cNvSpPr txBox="1"/>
          <p:nvPr/>
        </p:nvSpPr>
        <p:spPr>
          <a:xfrm>
            <a:off x="1218481" y="1182621"/>
            <a:ext cx="6094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1D1C1D"/>
                </a:solidFill>
                <a:effectLst/>
                <a:latin typeface="Slack-Lato"/>
              </a:rPr>
              <a:t> </a:t>
            </a:r>
            <a:r>
              <a:rPr lang="es-ES" b="0" i="0" u="none" strike="noStrike" dirty="0">
                <a:effectLst/>
                <a:latin typeface="Slack-Lato"/>
                <a:hlinkClick r:id="rId2"/>
              </a:rPr>
              <a:t>informacionsaster@gmail.com</a:t>
            </a:r>
            <a:endParaRPr lang="es-ES" dirty="0"/>
          </a:p>
          <a:p>
            <a:r>
              <a:rPr lang="es-ES" dirty="0">
                <a:hlinkClick r:id="rId3"/>
              </a:rPr>
              <a:t>https://drive.google.com/drive/u/2/home</a:t>
            </a:r>
            <a:endParaRPr lang="es-ES" dirty="0"/>
          </a:p>
          <a:p>
            <a:r>
              <a:rPr lang="es-ES" dirty="0"/>
              <a:t>  -  </a:t>
            </a:r>
            <a:r>
              <a:rPr lang="es-ES" dirty="0" err="1"/>
              <a:t>newsletter</a:t>
            </a:r>
            <a:endParaRPr lang="es-ES" dirty="0"/>
          </a:p>
          <a:p>
            <a:r>
              <a:rPr lang="es-ES" dirty="0"/>
              <a:t>     -  100</a:t>
            </a:r>
          </a:p>
          <a:p>
            <a:r>
              <a:rPr lang="es-ES" dirty="0"/>
              <a:t>         - </a:t>
            </a:r>
            <a:r>
              <a:rPr lang="es-ES" dirty="0" err="1"/>
              <a:t>imatges</a:t>
            </a:r>
            <a:endParaRPr lang="es-ES" dirty="0"/>
          </a:p>
          <a:p>
            <a:r>
              <a:rPr lang="es-ES" dirty="0"/>
              <a:t>               foto 1</a:t>
            </a:r>
          </a:p>
          <a:p>
            <a:r>
              <a:rPr lang="es-ES" dirty="0"/>
              <a:t>               </a:t>
            </a:r>
            <a:r>
              <a:rPr lang="es-ES" dirty="0" err="1"/>
              <a:t>doc</a:t>
            </a:r>
            <a:r>
              <a:rPr lang="es-ES" dirty="0"/>
              <a:t> 2</a:t>
            </a:r>
          </a:p>
          <a:p>
            <a:r>
              <a:rPr lang="es-ES" dirty="0"/>
              <a:t>     -  -101</a:t>
            </a:r>
          </a:p>
          <a:p>
            <a:r>
              <a:rPr lang="es-ES" dirty="0"/>
              <a:t>         - </a:t>
            </a:r>
            <a:r>
              <a:rPr lang="es-ES" dirty="0" err="1"/>
              <a:t>imatges</a:t>
            </a:r>
            <a:endParaRPr lang="es-ES" dirty="0"/>
          </a:p>
          <a:p>
            <a:r>
              <a:rPr lang="es-ES" dirty="0"/>
              <a:t>               foto …   </a:t>
            </a:r>
          </a:p>
        </p:txBody>
      </p:sp>
    </p:spTree>
    <p:extLst>
      <p:ext uri="{BB962C8B-B14F-4D97-AF65-F5344CB8AC3E}">
        <p14:creationId xmlns:p14="http://schemas.microsoft.com/office/powerpoint/2010/main" val="1753370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D64C3-6C7E-8C50-A64D-53C166B94EB0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6 – Por hacer (TODO)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00D380-421B-88BB-E10D-3825585F111E}"/>
              </a:ext>
            </a:extLst>
          </p:cNvPr>
          <p:cNvSpPr txBox="1"/>
          <p:nvPr/>
        </p:nvSpPr>
        <p:spPr>
          <a:xfrm>
            <a:off x="2398143" y="4295955"/>
            <a:ext cx="47751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- </a:t>
            </a:r>
            <a:r>
              <a:rPr lang="es-ES" strike="sngStrike" dirty="0"/>
              <a:t>Convertir páginas de Drive y </a:t>
            </a:r>
            <a:r>
              <a:rPr lang="es-ES" strike="sngStrike" dirty="0" err="1"/>
              <a:t>Onedrive</a:t>
            </a:r>
            <a:endParaRPr lang="es-ES" strike="sngStrike" dirty="0"/>
          </a:p>
          <a:p>
            <a:pPr algn="ctr"/>
            <a:r>
              <a:rPr lang="es-ES" dirty="0"/>
              <a:t>- </a:t>
            </a:r>
            <a:r>
              <a:rPr lang="es-ES" strike="sngStrike" dirty="0"/>
              <a:t>Excel a JSON</a:t>
            </a:r>
          </a:p>
          <a:p>
            <a:r>
              <a:rPr lang="es-ES" dirty="0"/>
              <a:t>- </a:t>
            </a:r>
            <a:r>
              <a:rPr lang="es-ES" u="sng" strike="sngStrike" dirty="0"/>
              <a:t>JSON a Excel</a:t>
            </a:r>
          </a:p>
          <a:p>
            <a:r>
              <a:rPr lang="es-ES" dirty="0"/>
              <a:t>- </a:t>
            </a:r>
            <a:r>
              <a:rPr lang="es-ES" u="sng" strike="sngStrike" dirty="0"/>
              <a:t>Diseño de </a:t>
            </a:r>
            <a:r>
              <a:rPr lang="es-ES" u="sng" strike="sngStrike" dirty="0" err="1"/>
              <a:t>Newsletter</a:t>
            </a:r>
            <a:r>
              <a:rPr lang="es-ES" u="sng" strike="sngStrike" dirty="0"/>
              <a:t> (Cabecera – cuerpo – Pie)</a:t>
            </a:r>
          </a:p>
          <a:p>
            <a:r>
              <a:rPr lang="es-ES" dirty="0"/>
              <a:t>- Más campos en </a:t>
            </a:r>
            <a:r>
              <a:rPr lang="es-ES" dirty="0" err="1"/>
              <a:t>Sheets</a:t>
            </a:r>
            <a:endParaRPr lang="es-ES" dirty="0"/>
          </a:p>
          <a:p>
            <a:r>
              <a:rPr lang="es-ES" dirty="0"/>
              <a:t>- </a:t>
            </a:r>
            <a:r>
              <a:rPr lang="es-ES" strike="sngStrike" dirty="0"/>
              <a:t>Customizar tipo letra</a:t>
            </a:r>
          </a:p>
          <a:p>
            <a:r>
              <a:rPr lang="es-ES" dirty="0"/>
              <a:t>- </a:t>
            </a:r>
            <a:r>
              <a:rPr lang="es-ES" strike="sngStrike" dirty="0"/>
              <a:t>JSON bien formado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8696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C9C22-7372-163F-9BDC-5D77804156DD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7 – Proyectos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522266-BAF0-540D-2581-2D55F94D3D1E}"/>
              </a:ext>
            </a:extLst>
          </p:cNvPr>
          <p:cNvSpPr txBox="1"/>
          <p:nvPr/>
        </p:nvSpPr>
        <p:spPr>
          <a:xfrm>
            <a:off x="989162" y="2566992"/>
            <a:ext cx="102136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2"/>
              </a:rPr>
              <a:t>Ahora en el cielo - AstroSabadell.org</a:t>
            </a:r>
            <a:endParaRPr lang="es-ES" dirty="0"/>
          </a:p>
          <a:p>
            <a:r>
              <a:rPr lang="es-ES" dirty="0">
                <a:hlinkClick r:id="rId3"/>
              </a:rPr>
              <a:t>Este mes en el cielo - AstroSabadell.org</a:t>
            </a:r>
            <a:endParaRPr lang="es-ES" dirty="0"/>
          </a:p>
          <a:p>
            <a:r>
              <a:rPr lang="es-ES" dirty="0">
                <a:hlinkClick r:id="rId4"/>
              </a:rPr>
              <a:t>Observaciones en directo | Agrupación Astronómica de Sabadell (astrosabadell.org)</a:t>
            </a:r>
            <a:endParaRPr lang="es-ES" dirty="0"/>
          </a:p>
          <a:p>
            <a:r>
              <a:rPr lang="es-ES" dirty="0">
                <a:hlinkClick r:id="rId5"/>
              </a:rPr>
              <a:t>Grupos de Investigación - AstroSabadell.org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90607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602</Words>
  <Application>Microsoft Office PowerPoint</Application>
  <PresentationFormat>Panorámica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Google Sans</vt:lpstr>
      <vt:lpstr>Roboto</vt:lpstr>
      <vt:lpstr>Slack-Lato</vt:lpstr>
      <vt:lpstr>Tema de Office</vt:lpstr>
      <vt:lpstr>1 - Actualizar el fichero de 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Actualizar el fichero de contenidos</dc:title>
  <dc:creator>Jordi Blanca</dc:creator>
  <cp:lastModifiedBy>Jordi Blanca</cp:lastModifiedBy>
  <cp:revision>11</cp:revision>
  <dcterms:created xsi:type="dcterms:W3CDTF">2023-12-04T12:18:17Z</dcterms:created>
  <dcterms:modified xsi:type="dcterms:W3CDTF">2023-12-20T19:15:39Z</dcterms:modified>
</cp:coreProperties>
</file>